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60" r:id="rId5"/>
    <p:sldId id="261" r:id="rId6"/>
    <p:sldId id="259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1_abstract</a:t>
            </a:r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2_framework</a:t>
            </a:r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>
                <a:sym typeface="+mn-ea"/>
              </a:rPr>
              <a:t>3d_grid_cell_fcc_lattice</a:t>
            </a:r>
            <a:endParaRPr lang="en-US" altLang="zh-CN"/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en-US" altLang="zh-CN"/>
              <a:t>imu_visual_complementary_fusion</a:t>
            </a:r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1" Type="http://schemas.openxmlformats.org/officeDocument/2006/relationships/notesSlide" Target="../notesSlides/notesSlide1.xml"/><Relationship Id="rId30" Type="http://schemas.openxmlformats.org/officeDocument/2006/relationships/slideLayout" Target="../slideLayouts/slideLayout1.xml"/><Relationship Id="rId3" Type="http://schemas.openxmlformats.org/officeDocument/2006/relationships/image" Target="../media/image3.jpeg"/><Relationship Id="rId29" Type="http://schemas.openxmlformats.org/officeDocument/2006/relationships/image" Target="../media/image29.png"/><Relationship Id="rId28" Type="http://schemas.openxmlformats.org/officeDocument/2006/relationships/image" Target="../media/image28.png"/><Relationship Id="rId27" Type="http://schemas.openxmlformats.org/officeDocument/2006/relationships/image" Target="../media/image27.png"/><Relationship Id="rId26" Type="http://schemas.openxmlformats.org/officeDocument/2006/relationships/image" Target="../media/image26.png"/><Relationship Id="rId25" Type="http://schemas.openxmlformats.org/officeDocument/2006/relationships/image" Target="../media/image25.png"/><Relationship Id="rId24" Type="http://schemas.openxmlformats.org/officeDocument/2006/relationships/image" Target="../media/image24.png"/><Relationship Id="rId23" Type="http://schemas.openxmlformats.org/officeDocument/2006/relationships/image" Target="../media/image23.png"/><Relationship Id="rId22" Type="http://schemas.openxmlformats.org/officeDocument/2006/relationships/image" Target="../media/image22.png"/><Relationship Id="rId21" Type="http://schemas.openxmlformats.org/officeDocument/2006/relationships/image" Target="../media/image21.png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jpe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43.png"/><Relationship Id="rId8" Type="http://schemas.openxmlformats.org/officeDocument/2006/relationships/image" Target="../media/image42.png"/><Relationship Id="rId7" Type="http://schemas.openxmlformats.org/officeDocument/2006/relationships/image" Target="../media/image41.png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45.png"/><Relationship Id="rId10" Type="http://schemas.openxmlformats.org/officeDocument/2006/relationships/image" Target="../media/image44.png"/><Relationship Id="rId1" Type="http://schemas.openxmlformats.org/officeDocument/2006/relationships/image" Target="../media/image35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png"/><Relationship Id="rId7" Type="http://schemas.openxmlformats.org/officeDocument/2006/relationships/image" Target="../media/image52.png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60.png"/><Relationship Id="rId14" Type="http://schemas.openxmlformats.org/officeDocument/2006/relationships/image" Target="../media/image59.png"/><Relationship Id="rId13" Type="http://schemas.openxmlformats.org/officeDocument/2006/relationships/image" Target="../media/image58.png"/><Relationship Id="rId12" Type="http://schemas.openxmlformats.org/officeDocument/2006/relationships/image" Target="../media/image57.png"/><Relationship Id="rId11" Type="http://schemas.openxmlformats.org/officeDocument/2006/relationships/image" Target="../media/image56.png"/><Relationship Id="rId10" Type="http://schemas.openxmlformats.org/officeDocument/2006/relationships/image" Target="../media/image55.png"/><Relationship Id="rId1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7470" y="1550645"/>
            <a:ext cx="11802740" cy="405614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 rot="21600000">
            <a:off x="3676967" y="1557337"/>
            <a:ext cx="5232400" cy="478155"/>
            <a:chOff x="0" y="0"/>
            <a:chExt cx="5232400" cy="478155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5232400" cy="478155"/>
            </a:xfrm>
            <a:prstGeom prst="rect">
              <a:avLst/>
            </a:prstGeom>
          </p:spPr>
        </p:pic>
        <p:sp>
          <p:nvSpPr>
            <p:cNvPr id="6" name="textbox 6"/>
            <p:cNvSpPr/>
            <p:nvPr/>
          </p:nvSpPr>
          <p:spPr>
            <a:xfrm>
              <a:off x="-12700" y="-12700"/>
              <a:ext cx="5258434" cy="5080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63220" algn="l" rtl="0" eaLnBrk="0">
                <a:lnSpc>
                  <a:spcPct val="81000"/>
                </a:lnSpc>
              </a:pPr>
              <a:r>
                <a:rPr sz="23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NeuroLocMap:</a:t>
              </a:r>
              <a:r>
                <a:rPr sz="23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Bio-Inspired   Fusion</a:t>
              </a:r>
              <a:endParaRPr sz="23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9113519" y="2590800"/>
            <a:ext cx="2505456" cy="992123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8883967" y="1816417"/>
            <a:ext cx="2973069" cy="371665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3221101" y="2119241"/>
            <a:ext cx="1133475" cy="79909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660391" y="2112263"/>
            <a:ext cx="1362455" cy="69342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3245485" y="2072005"/>
            <a:ext cx="2771774" cy="2590799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674780" y="4653279"/>
            <a:ext cx="128447" cy="241934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0" y="0"/>
              <a:ext cx="3199130" cy="3424554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25550" algn="l" rtl="0" eaLnBrk="0">
                <a:lnSpc>
                  <a:spcPct val="88000"/>
                </a:lnSpc>
              </a:pPr>
              <a:r>
                <a:rPr sz="2300" b="1" kern="0" spc="61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+</a:t>
              </a:r>
              <a:endParaRPr sz="2300" dirty="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3196589" y="2011679"/>
            <a:ext cx="3199130" cy="3424554"/>
            <a:chOff x="0" y="0"/>
            <a:chExt cx="3199130" cy="3424554"/>
          </a:xfrm>
        </p:grpSpPr>
        <p:sp>
          <p:nvSpPr>
            <p:cNvPr id="24" name="textbox 24"/>
            <p:cNvSpPr/>
            <p:nvPr/>
          </p:nvSpPr>
          <p:spPr>
            <a:xfrm>
              <a:off x="-12700" y="-12700"/>
              <a:ext cx="3225164" cy="344995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56515" indent="172085" algn="l" rtl="0" eaLnBrk="0">
                <a:lnSpc>
                  <a:spcPct val="77000"/>
                </a:lnSpc>
              </a:pPr>
              <a:r>
                <a:rPr sz="27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</a:t>
              </a:r>
              <a:r>
                <a:rPr sz="3600" b="1" kern="0" spc="0" baseline="-1200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＋</a:t>
              </a:r>
              <a:r>
                <a:rPr sz="2300" kern="0" spc="270" dirty="0">
                  <a:solidFill>
                    <a:srgbClr val="000000">
                      <a:alpha val="100000"/>
                    </a:srgbClr>
                  </a:solidFill>
                  <a:latin typeface="黑体" panose="02010609060101010101" charset="-122"/>
                  <a:ea typeface="黑体" panose="02010609060101010101" charset="-122"/>
                  <a:cs typeface="黑体" panose="02010609060101010101" charset="-122"/>
                </a:rPr>
                <a:t> </a:t>
              </a:r>
              <a:r>
                <a:rPr sz="2700" kern="0" spc="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</a:t>
              </a:r>
              <a:r>
                <a:rPr sz="2700" kern="0" spc="-1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ght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</a:t>
              </a:r>
              <a:r>
                <a:rPr sz="1700" kern="0" spc="7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Attention Module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26" name="picture 2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1320609" y="4467026"/>
            <a:ext cx="554608" cy="56503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1295400" y="3454907"/>
            <a:ext cx="605027" cy="605028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306187" y="2571474"/>
            <a:ext cx="603265" cy="382977"/>
          </a:xfrm>
          <a:prstGeom prst="rect">
            <a:avLst/>
          </a:prstGeom>
        </p:spPr>
      </p:pic>
      <p:pic>
        <p:nvPicPr>
          <p:cNvPr id="32" name="picture 3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59372" y="1816417"/>
            <a:ext cx="2930525" cy="3716654"/>
          </a:xfrm>
          <a:prstGeom prst="rect">
            <a:avLst/>
          </a:prstGeom>
        </p:spPr>
      </p:pic>
      <p:pic>
        <p:nvPicPr>
          <p:cNvPr id="34" name="picture 3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6588252" y="3634740"/>
            <a:ext cx="615695" cy="594360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7758684" y="3584447"/>
            <a:ext cx="720852" cy="687323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21600000">
            <a:off x="7194718" y="2424607"/>
            <a:ext cx="853524" cy="42405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1600000">
            <a:off x="6353809" y="2022475"/>
            <a:ext cx="2303780" cy="3413125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3395497" y="2217775"/>
            <a:ext cx="5271134" cy="1154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(Complementary Fusion)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4000"/>
              </a:lnSpc>
              <a:spcBef>
                <a:spcPts val="530"/>
              </a:spcBef>
            </a:pP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-8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Cortex</a:t>
            </a: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10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Vestibular</a:t>
            </a:r>
            <a:endParaRPr sz="2700" baseline="10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666115" algn="l" rtl="0" eaLnBrk="0">
              <a:lnSpc>
                <a:spcPct val="81000"/>
              </a:lnSpc>
              <a:spcBef>
                <a:spcPts val="410"/>
              </a:spcBef>
              <a:tabLst>
                <a:tab pos="1610360" algn="l"/>
              </a:tabLst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System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 rot="21600000">
            <a:off x="3933736" y="3093084"/>
            <a:ext cx="128447" cy="241935"/>
          </a:xfrm>
          <a:prstGeom prst="rect">
            <a:avLst/>
          </a:prstGeom>
        </p:spPr>
      </p:pic>
      <p:grpSp>
        <p:nvGrpSpPr>
          <p:cNvPr id="9" name="group 8"/>
          <p:cNvGrpSpPr/>
          <p:nvPr/>
        </p:nvGrpSpPr>
        <p:grpSpPr>
          <a:xfrm rot="21600000">
            <a:off x="9107169" y="3564254"/>
            <a:ext cx="2518410" cy="1941829"/>
            <a:chOff x="0" y="0"/>
            <a:chExt cx="2518410" cy="1941829"/>
          </a:xfrm>
        </p:grpSpPr>
        <p:pic>
          <p:nvPicPr>
            <p:cNvPr id="46" name="picture 46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 rot="21600000">
              <a:off x="0" y="0"/>
              <a:ext cx="2518410" cy="1941829"/>
            </a:xfrm>
            <a:prstGeom prst="rect">
              <a:avLst/>
            </a:prstGeom>
          </p:spPr>
        </p:pic>
        <p:sp>
          <p:nvSpPr>
            <p:cNvPr id="48" name="textbox 48"/>
            <p:cNvSpPr/>
            <p:nvPr/>
          </p:nvSpPr>
          <p:spPr>
            <a:xfrm>
              <a:off x="-12700" y="-12700"/>
              <a:ext cx="2544445" cy="19672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19075" algn="l" rtl="0" eaLnBrk="0">
                <a:lnSpc>
                  <a:spcPct val="80000"/>
                </a:lnSpc>
                <a:spcBef>
                  <a:spcPts val="5"/>
                </a:spcBef>
              </a:pP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38.</a:t>
              </a:r>
              <a:r>
                <a:rPr sz="1700" kern="0" spc="18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1%  RMSE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</a:t>
              </a:r>
              <a:r>
                <a:rPr sz="17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↓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0000"/>
                </a:lnSpc>
                <a:spcBef>
                  <a:spcPts val="225"/>
                </a:spcBef>
              </a:pP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</a:t>
              </a:r>
              <a:r>
                <a:rPr sz="1700" kern="0" spc="2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195 VT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72000"/>
                </a:lnSpc>
                <a:spcBef>
                  <a:spcPts val="425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Real-time:~31 FPS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19075" algn="l" rtl="0" eaLnBrk="0">
                <a:lnSpc>
                  <a:spcPct val="81000"/>
                </a:lnSpc>
                <a:spcBef>
                  <a:spcPts val="410"/>
                </a:spcBef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·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Zero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shot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deployment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0815" algn="l" rtl="0" eaLnBrk="0">
                <a:lnSpc>
                  <a:spcPct val="121000"/>
                </a:lnSpc>
                <a:spcBef>
                  <a:spcPts val="5"/>
                </a:spcBef>
              </a:pP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52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Urban</a:t>
              </a:r>
              <a:r>
                <a:rPr sz="1700" kern="0" spc="1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environments 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50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Indoor</a:t>
              </a:r>
              <a:r>
                <a:rPr sz="1700" kern="0" spc="29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spaces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58115" algn="l" rtl="0" eaLnBrk="0">
                <a:lnSpc>
                  <a:spcPct val="94000"/>
                </a:lnSpc>
                <a:spcBef>
                  <a:spcPts val="15"/>
                </a:spcBef>
              </a:pP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☑</a:t>
              </a:r>
              <a:r>
                <a:rPr sz="1700" kern="0" spc="-36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Challenging</a:t>
              </a:r>
              <a:r>
                <a:rPr sz="1700" kern="0" spc="1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lighting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50" name="textbox 50"/>
          <p:cNvSpPr/>
          <p:nvPr/>
        </p:nvSpPr>
        <p:spPr>
          <a:xfrm>
            <a:off x="6720281" y="3775506"/>
            <a:ext cx="1826895" cy="16084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13410" algn="l" rtl="0" eaLnBrk="0">
              <a:lnSpc>
                <a:spcPct val="88000"/>
              </a:lnSpc>
            </a:pPr>
            <a:r>
              <a:rPr sz="2300" b="1" kern="0" spc="610" dirty="0">
                <a:solidFill>
                  <a:srgbClr val="00000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+</a:t>
            </a:r>
            <a:endParaRPr sz="2300" dirty="0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 algn="l" rtl="0" eaLnBrk="0">
              <a:lnSpc>
                <a:spcPct val="10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52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Hdc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3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grid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8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8585" algn="l" rtl="0" eaLnBrk="0">
              <a:lnSpc>
                <a:spcPts val="1310"/>
              </a:lnSpc>
              <a:spcBef>
                <a:spcPts val="520"/>
              </a:spcBef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           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x, y,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6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69240" algn="l" rtl="0" eaLnBrk="0">
              <a:lnSpc>
                <a:spcPct val="81000"/>
              </a:lnSpc>
              <a:spcBef>
                <a:spcPts val="0"/>
              </a:spcBef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4-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499897" y="3115665"/>
            <a:ext cx="2255520" cy="2387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1700" kern="0" spc="3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drift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</a:t>
            </a:r>
            <a:r>
              <a:rPr sz="1700" kern="0" spc="3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low-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light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21600000">
            <a:off x="349250" y="2462529"/>
            <a:ext cx="2501900" cy="988060"/>
          </a:xfrm>
          <a:prstGeom prst="rect">
            <a:avLst/>
          </a:prstGeom>
        </p:spPr>
      </p:pic>
      <p:pic>
        <p:nvPicPr>
          <p:cNvPr id="56" name="picture 56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 rot="21600000">
            <a:off x="349250" y="4439920"/>
            <a:ext cx="2501900" cy="988059"/>
          </a:xfrm>
          <a:prstGeom prst="rect">
            <a:avLst/>
          </a:prstGeom>
        </p:spPr>
      </p:pic>
      <p:sp>
        <p:nvSpPr>
          <p:cNvPr id="58" name="textbox 58"/>
          <p:cNvSpPr/>
          <p:nvPr/>
        </p:nvSpPr>
        <p:spPr>
          <a:xfrm>
            <a:off x="170383" y="1839645"/>
            <a:ext cx="2722879" cy="5543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53695" algn="l" rtl="0" eaLnBrk="0">
              <a:lnSpc>
                <a:spcPct val="79000"/>
              </a:lnSpc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Challenges in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71000"/>
              </a:lnSpc>
              <a:spcBef>
                <a:spcPts val="25"/>
              </a:spcBef>
            </a:pP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Visual-Inertial</a:t>
            </a:r>
            <a:r>
              <a:rPr sz="23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SLAM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aphicFrame>
        <p:nvGraphicFramePr>
          <p:cNvPr id="60" name="table 60"/>
          <p:cNvGraphicFramePr>
            <a:graphicFrameLocks noGrp="1"/>
          </p:cNvGraphicFramePr>
          <p:nvPr/>
        </p:nvGraphicFramePr>
        <p:xfrm>
          <a:off x="6511290" y="4771390"/>
          <a:ext cx="2115184" cy="609600"/>
        </p:xfrm>
        <a:graphic>
          <a:graphicData uri="http://schemas.openxmlformats.org/drawingml/2006/table">
            <a:tbl>
              <a:tblPr/>
              <a:tblGrid>
                <a:gridCol w="2115184"/>
              </a:tblGrid>
              <a:tr h="603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47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2" name="textbox 62"/>
          <p:cNvSpPr/>
          <p:nvPr/>
        </p:nvSpPr>
        <p:spPr>
          <a:xfrm>
            <a:off x="4927142" y="3542385"/>
            <a:ext cx="1003935" cy="10617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48285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2700" algn="l" rtl="0" eaLnBrk="0">
              <a:lnSpc>
                <a:spcPct val="82000"/>
              </a:lnSpc>
              <a:spcBef>
                <a:spcPts val="695"/>
              </a:spcBef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processing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2725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r>
              <a:rPr sz="17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13360" algn="l" rtl="0" eaLnBrk="0">
              <a:lnSpc>
                <a:spcPct val="82000"/>
              </a:lnSpc>
              <a:spcBef>
                <a:spcPts val="485"/>
              </a:spcBef>
            </a:pP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4" name="textbox 64"/>
          <p:cNvSpPr/>
          <p:nvPr/>
        </p:nvSpPr>
        <p:spPr>
          <a:xfrm>
            <a:off x="6977456" y="3106775"/>
            <a:ext cx="1253489" cy="5099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indent="-10160" algn="l" rtl="0" eaLnBrk="0">
              <a:lnSpc>
                <a:spcPct val="95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Hippocampal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Spatial Ce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lls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6" name="textbox 66"/>
          <p:cNvSpPr/>
          <p:nvPr/>
        </p:nvSpPr>
        <p:spPr>
          <a:xfrm>
            <a:off x="9233992" y="1936165"/>
            <a:ext cx="2432685" cy="2781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Robust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Localizati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on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8" name="textbox 68"/>
          <p:cNvSpPr/>
          <p:nvPr/>
        </p:nvSpPr>
        <p:spPr>
          <a:xfrm>
            <a:off x="3500678" y="3345611"/>
            <a:ext cx="1097280" cy="4826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4640" algn="l" rtl="0" eaLnBrk="0">
              <a:lnSpc>
                <a:spcPct val="70000"/>
              </a:lnSpc>
            </a:pPr>
            <a:r>
              <a:rPr sz="17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HART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18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  <a:spcBef>
                <a:spcPts val="0"/>
              </a:spcBef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dual-stream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0" name="picture 70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 rot="21600000">
            <a:off x="8561303" y="3279468"/>
            <a:ext cx="509273" cy="748008"/>
          </a:xfrm>
          <a:prstGeom prst="rect">
            <a:avLst/>
          </a:prstGeom>
        </p:spPr>
      </p:pic>
      <p:sp>
        <p:nvSpPr>
          <p:cNvPr id="72" name="textbox 72"/>
          <p:cNvSpPr/>
          <p:nvPr/>
        </p:nvSpPr>
        <p:spPr>
          <a:xfrm>
            <a:off x="3285566" y="4122775"/>
            <a:ext cx="631190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Dorsal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74" name="picture 7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21600000">
            <a:off x="2892168" y="3442498"/>
            <a:ext cx="510266" cy="745785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659891" y="5082895"/>
            <a:ext cx="1826895" cy="238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Loop closure fail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ure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9544253" y="2291130"/>
            <a:ext cx="1325244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&amp;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Mapping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490855" y="4128490"/>
            <a:ext cx="2127885" cy="2127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IMU bias accumulation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4180992" y="4122775"/>
            <a:ext cx="683894" cy="4845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Ventral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3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ts val="1270"/>
              </a:lnSpc>
              <a:spcBef>
                <a:spcPts val="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stream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84" name="picture 84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21600000">
            <a:off x="6830605" y="4509770"/>
            <a:ext cx="128448" cy="241934"/>
          </a:xfrm>
          <a:prstGeom prst="rect">
            <a:avLst/>
          </a:prstGeom>
        </p:spPr>
      </p:pic>
      <p:pic>
        <p:nvPicPr>
          <p:cNvPr id="86" name="picture 8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 rot="21600000">
            <a:off x="5341530" y="3342004"/>
            <a:ext cx="128447" cy="241935"/>
          </a:xfrm>
          <a:prstGeom prst="rect">
            <a:avLst/>
          </a:prstGeom>
        </p:spPr>
      </p:pic>
      <p:pic>
        <p:nvPicPr>
          <p:cNvPr id="88" name="picture 8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 rot="21600000">
            <a:off x="7983131" y="4509770"/>
            <a:ext cx="128447" cy="241934"/>
          </a:xfrm>
          <a:prstGeom prst="rect">
            <a:avLst/>
          </a:prstGeom>
        </p:spPr>
      </p:pic>
      <p:pic>
        <p:nvPicPr>
          <p:cNvPr id="90" name="picture 90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 rot="21600000">
            <a:off x="4465866" y="3899534"/>
            <a:ext cx="128447" cy="241935"/>
          </a:xfrm>
          <a:prstGeom prst="rect">
            <a:avLst/>
          </a:prstGeom>
        </p:spPr>
      </p:pic>
      <p:pic>
        <p:nvPicPr>
          <p:cNvPr id="92" name="picture 92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 rot="21600000">
            <a:off x="3570516" y="3899534"/>
            <a:ext cx="128447" cy="241935"/>
          </a:xfrm>
          <a:prstGeom prst="rect">
            <a:avLst/>
          </a:prstGeom>
        </p:spPr>
      </p:pic>
      <p:pic>
        <p:nvPicPr>
          <p:cNvPr id="94" name="picture 94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 rot="21600000">
            <a:off x="7531011" y="2851150"/>
            <a:ext cx="128447" cy="24193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0" y="1061720"/>
            <a:ext cx="4459566" cy="4512944"/>
            <a:chOff x="0" y="0"/>
            <a:chExt cx="4459566" cy="4512944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0" y="0"/>
              <a:ext cx="4459566" cy="4512944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1260619" y="49677"/>
              <a:ext cx="2908935" cy="128460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Vestibular Sy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stem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82000"/>
                </a:lnSpc>
                <a:spcBef>
                  <a:spcPts val="515"/>
                </a:spcBef>
              </a:pP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imu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8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305685" algn="l" rtl="0" eaLnBrk="0">
                <a:lnSpc>
                  <a:spcPct val="82000"/>
                </a:lnSpc>
                <a:spcBef>
                  <a:spcPts val="5"/>
                </a:spcBef>
              </a:pP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v_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imu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>
              <a:off x="1502859" y="2161636"/>
              <a:ext cx="2898139" cy="7594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1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6900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Visual Cortex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2014220" algn="l" rtl="0" eaLnBrk="0">
                <a:lnSpc>
                  <a:spcPct val="74000"/>
                </a:lnSpc>
                <a:spcBef>
                  <a:spcPts val="6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HART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ts val="2455"/>
                </a:lnSpc>
                <a:spcBef>
                  <a:spcPts val="9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dual-stre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am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32348" y="3161299"/>
              <a:ext cx="1981835" cy="106489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6000"/>
                </a:lnSpc>
              </a:pP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MonocularTown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63500" algn="l" rtl="0" eaLnBrk="0">
                <a:lnSpc>
                  <a:spcPct val="94000"/>
                </a:lnSpc>
                <a:spcBef>
                  <a:spcPts val="15"/>
                </a:spcBef>
              </a:pPr>
              <a:r>
                <a:rPr sz="15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RGB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2000"/>
                </a:lnSpc>
              </a:pPr>
              <a:endParaRPr sz="8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0420" indent="-256540" algn="l" rtl="0" eaLnBrk="0">
                <a:lnSpc>
                  <a:spcPct val="99000"/>
                </a:lnSpc>
                <a:spcBef>
                  <a:spcPts val="0"/>
                </a:spcBef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Dorsal stream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motion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0" name="textbox 10"/>
            <p:cNvSpPr/>
            <p:nvPr/>
          </p:nvSpPr>
          <p:spPr>
            <a:xfrm>
              <a:off x="2753639" y="3698417"/>
              <a:ext cx="1497964" cy="5403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550" indent="-69850" algn="l" rtl="0" eaLnBrk="0">
                <a:lnSpc>
                  <a:spcPct val="99000"/>
                </a:lnSpc>
              </a:pP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Ventral stream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(appearance)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4718684" y="993647"/>
            <a:ext cx="4264025" cy="4581652"/>
            <a:chOff x="0" y="0"/>
            <a:chExt cx="4264025" cy="4581652"/>
          </a:xfrm>
        </p:grpSpPr>
        <p:sp>
          <p:nvSpPr>
            <p:cNvPr id="12" name="textbox 12"/>
            <p:cNvSpPr/>
            <p:nvPr/>
          </p:nvSpPr>
          <p:spPr>
            <a:xfrm>
              <a:off x="899427" y="2006798"/>
              <a:ext cx="2912110" cy="144716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4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685" algn="l" rtl="0" eaLnBrk="0">
                <a:lnSpc>
                  <a:spcPct val="78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Complemen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tary Fusion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5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1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7000"/>
                </a:lnSpc>
                <a:spcBef>
                  <a:spcPts val="5"/>
                </a:spcBef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Hippocampal Spatia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 Cells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264025" cy="4581652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88492" y="28344"/>
              <a:ext cx="3333750" cy="820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2260" algn="l" rtl="0" eaLnBrk="0">
                <a:lnSpc>
                  <a:spcPts val="242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囹</a:t>
              </a: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Temporal Pro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cessing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84785" algn="l" rtl="0" eaLnBrk="0">
                <a:lnSpc>
                  <a:spcPct val="82000"/>
                </a:lnSpc>
                <a:spcBef>
                  <a:spcPts val="21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LSTM</a:t>
              </a: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    </a:t>
              </a: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Lightweight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2700" algn="l" rtl="0" eaLnBrk="0">
                <a:lnSpc>
                  <a:spcPct val="72000"/>
                </a:lnSpc>
                <a:spcBef>
                  <a:spcPts val="485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Fixed - Gate         Attention Module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 rot="21600000">
            <a:off x="9268459" y="1052829"/>
            <a:ext cx="2798444" cy="4521834"/>
            <a:chOff x="0" y="0"/>
            <a:chExt cx="2798444" cy="4521834"/>
          </a:xfrm>
        </p:grpSpPr>
        <p:pic>
          <p:nvPicPr>
            <p:cNvPr id="18" name="picture 1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2798444" cy="4521834"/>
            </a:xfrm>
            <a:prstGeom prst="rect">
              <a:avLst/>
            </a:prstGeom>
          </p:spPr>
        </p:pic>
        <p:sp>
          <p:nvSpPr>
            <p:cNvPr id="20" name="textbox 20"/>
            <p:cNvSpPr/>
            <p:nvPr/>
          </p:nvSpPr>
          <p:spPr>
            <a:xfrm>
              <a:off x="361708" y="131516"/>
              <a:ext cx="2024379" cy="56641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5000"/>
                </a:lnSpc>
              </a:pPr>
              <a:r>
                <a:rPr sz="2000" b="1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Location&amp;</a:t>
              </a: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mappin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7145" algn="l" rtl="0" eaLnBrk="0">
                <a:lnSpc>
                  <a:spcPts val="2450"/>
                </a:lnSpc>
              </a:pPr>
              <a:r>
                <a:rPr sz="2000" b="1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g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22" name="textbox 22"/>
            <p:cNvSpPr/>
            <p:nvPr/>
          </p:nvSpPr>
          <p:spPr>
            <a:xfrm>
              <a:off x="683791" y="4116511"/>
              <a:ext cx="1618614" cy="26415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8000"/>
                </a:lnSpc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experience map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pic>
        <p:nvPicPr>
          <p:cNvPr id="24" name="picture 2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101390" y="1251193"/>
            <a:ext cx="3434289" cy="1524317"/>
          </a:xfrm>
          <a:prstGeom prst="rect">
            <a:avLst/>
          </a:prstGeom>
        </p:spPr>
      </p:pic>
      <p:sp>
        <p:nvSpPr>
          <p:cNvPr id="26" name="textbox 26"/>
          <p:cNvSpPr/>
          <p:nvPr/>
        </p:nvSpPr>
        <p:spPr>
          <a:xfrm>
            <a:off x="5095950" y="4603357"/>
            <a:ext cx="3612515" cy="917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28345" algn="l" rtl="0" eaLnBrk="0">
              <a:lnSpc>
                <a:spcPct val="83000"/>
              </a:lnSpc>
            </a:pPr>
            <a:r>
              <a:rPr sz="3200" b="1" kern="0" spc="760" dirty="0">
                <a:solidFill>
                  <a:srgbClr val="000000">
                    <a:alpha val="100000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+</a:t>
            </a:r>
            <a:endParaRPr sz="32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05"/>
              </a:lnSpc>
              <a:spcBef>
                <a:spcPts val="0"/>
              </a:spcBef>
            </a:pP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</a:t>
            </a:r>
            <a:r>
              <a:rPr sz="1700" kern="0" spc="4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y,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20" baseline="-3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z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2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</a:t>
            </a:r>
            <a:r>
              <a:rPr sz="2700" kern="0" spc="0" baseline="3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4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DoF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pose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6628155" y="5340375"/>
            <a:ext cx="165100" cy="1917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305"/>
              </a:lnSpc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6666624" y="5164175"/>
            <a:ext cx="197485" cy="18986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3000"/>
              </a:lnSpc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id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364912" y="5342204"/>
            <a:ext cx="137160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65"/>
              </a:lnSpc>
            </a:pPr>
            <a:r>
              <a:rPr sz="1700" kern="0" spc="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5374055" y="5218353"/>
            <a:ext cx="119379" cy="1530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005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441190" y="2746679"/>
            <a:ext cx="4844287" cy="464845"/>
          </a:xfrm>
          <a:prstGeom prst="rect">
            <a:avLst/>
          </a:prstGeom>
        </p:spPr>
      </p:pic>
      <p:sp>
        <p:nvSpPr>
          <p:cNvPr id="38" name="textbox 38"/>
          <p:cNvSpPr/>
          <p:nvPr/>
        </p:nvSpPr>
        <p:spPr>
          <a:xfrm>
            <a:off x="6079851" y="2724419"/>
            <a:ext cx="1737360" cy="2133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Temporal     Features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/>
          <p:nvPr/>
        </p:nvSpPr>
        <p:spPr>
          <a:xfrm>
            <a:off x="4123296" y="1689531"/>
            <a:ext cx="3375025" cy="3193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6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(b)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Heading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Input</a:t>
            </a:r>
            <a:r>
              <a:rPr sz="2300" kern="0" spc="1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φ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)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  <a:spcBef>
                <a:spcPts val="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Concatenation</a:t>
            </a:r>
            <a:r>
              <a:rPr sz="1700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[g_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xyz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 h_ψ]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62356" y="2066871"/>
            <a:ext cx="3272567" cy="2948612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867094" y="2176196"/>
            <a:ext cx="2218402" cy="2446246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44500" y="5010086"/>
            <a:ext cx="3665220" cy="101028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7538779" y="2048255"/>
            <a:ext cx="2045297" cy="1045174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9406121" y="1935479"/>
            <a:ext cx="2595378" cy="1308643"/>
          </a:xfrm>
          <a:prstGeom prst="rect">
            <a:avLst/>
          </a:prstGeom>
        </p:spPr>
      </p:pic>
      <p:sp>
        <p:nvSpPr>
          <p:cNvPr id="14" name="textbox 14"/>
          <p:cNvSpPr/>
          <p:nvPr/>
        </p:nvSpPr>
        <p:spPr>
          <a:xfrm>
            <a:off x="8038516" y="3818102"/>
            <a:ext cx="2716529" cy="1139825"/>
          </a:xfrm>
          <a:prstGeom prst="rect">
            <a:avLst/>
          </a:prstGeom>
          <a:solidFill>
            <a:srgbClr val="E2F0D9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6055" algn="l" rtl="0" eaLnBrk="0">
              <a:lnSpc>
                <a:spcPct val="77000"/>
              </a:lnSpc>
              <a:spcBef>
                <a:spcPts val="0"/>
              </a:spcBef>
            </a:pP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Decoding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:(</a:t>
            </a:r>
            <a:r>
              <a:rPr sz="17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ŷ</a:t>
            </a:r>
            <a:r>
              <a:rPr sz="1700" kern="0" spc="-3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, ẑ)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85420" algn="l" rtl="0" eaLnBrk="0">
              <a:lnSpc>
                <a:spcPts val="2160"/>
              </a:lnSpc>
              <a:spcBef>
                <a:spcPts val="155"/>
              </a:spcBef>
            </a:pP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 = Σ A_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ijk</a:t>
            </a:r>
            <a:r>
              <a:rPr sz="1700" kern="0" spc="2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 (i,j,k)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185420" algn="l" rtl="0" eaLnBrk="0">
              <a:lnSpc>
                <a:spcPct val="106000"/>
              </a:lnSpc>
              <a:spcBef>
                <a:spcPts val="5"/>
              </a:spcBef>
            </a:pP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ψ̂</a:t>
            </a:r>
            <a:r>
              <a:rPr sz="1700" kern="0" spc="-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=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atan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2(Σ</a:t>
            </a:r>
            <a:r>
              <a:rPr sz="1700" kern="0" spc="-6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A_u</a:t>
            </a:r>
            <a:r>
              <a:rPr sz="1700" kern="0" spc="2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</a:t>
            </a:r>
            <a:r>
              <a:rPr sz="1700" kern="0" spc="1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sin</a:t>
            </a:r>
            <a:r>
              <a:rPr sz="17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(θ_u),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Σ A_u</a:t>
            </a:r>
            <a:r>
              <a:rPr sz="1700" kern="0" spc="2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· </a:t>
            </a:r>
            <a:r>
              <a:rPr sz="17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cos</a:t>
            </a:r>
            <a:r>
              <a:rPr sz="17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(θ</a:t>
            </a:r>
            <a:r>
              <a:rPr sz="1700" kern="0" spc="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_u))</a:t>
            </a:r>
            <a:endParaRPr sz="17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9207792" y="3847973"/>
            <a:ext cx="142646" cy="290893"/>
          </a:xfrm>
          <a:prstGeom prst="rect">
            <a:avLst/>
          </a:prstGeom>
        </p:spPr>
      </p:pic>
      <p:sp>
        <p:nvSpPr>
          <p:cNvPr id="18" name="textbox 18"/>
          <p:cNvSpPr/>
          <p:nvPr/>
        </p:nvSpPr>
        <p:spPr>
          <a:xfrm>
            <a:off x="549546" y="5105148"/>
            <a:ext cx="3467734" cy="8724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Activity Distribution</a:t>
            </a:r>
            <a:r>
              <a:rPr sz="20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2400" kern="0" spc="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layer</a:t>
            </a:r>
            <a:r>
              <a:rPr sz="1500" kern="0" spc="2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400" kern="0" spc="0" baseline="11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1</a:t>
            </a:r>
            <a:endParaRPr sz="2400" baseline="11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84455" indent="-62865" algn="l" rtl="0" eaLnBrk="0">
              <a:lnSpc>
                <a:spcPct val="95000"/>
              </a:lnSpc>
              <a:spcBef>
                <a:spcPts val="295"/>
              </a:spcBef>
            </a:pPr>
            <a:r>
              <a:rPr sz="3000" kern="0" spc="14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61</a:t>
            </a:r>
            <a:r>
              <a:rPr sz="1900" kern="0" spc="-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000" kern="0" spc="14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×</a:t>
            </a:r>
            <a:r>
              <a:rPr sz="3000" kern="0" spc="14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61</a:t>
            </a:r>
            <a:r>
              <a:rPr sz="19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000" kern="0" spc="14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×</a:t>
            </a:r>
            <a:r>
              <a:rPr sz="3000" kern="0" spc="14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61</a:t>
            </a:r>
            <a:r>
              <a:rPr sz="19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3000" kern="0" spc="0" baseline="5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neurons</a:t>
            </a:r>
            <a:r>
              <a:rPr sz="1900" kern="0" spc="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  </a:t>
            </a:r>
            <a:r>
              <a:rPr sz="2400" kern="0" spc="0" baseline="-2400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Direction</a:t>
            </a:r>
            <a:r>
              <a:rPr sz="1500" kern="0" spc="7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(Grid Cells)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4878755" y="5010010"/>
            <a:ext cx="2369820" cy="1011555"/>
          </a:xfrm>
          <a:prstGeom prst="rect">
            <a:avLst/>
          </a:prstGeom>
          <a:solidFill>
            <a:srgbClr val="DEEB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2095" indent="11430" algn="l" rtl="0" eaLnBrk="0">
              <a:lnSpc>
                <a:spcPct val="87000"/>
              </a:lnSpc>
            </a:pP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Simple Cubic vs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FCC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250190" algn="l" rtl="0" eaLnBrk="0">
              <a:lnSpc>
                <a:spcPts val="2695"/>
              </a:lnSpc>
              <a:spcBef>
                <a:spcPts val="290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m(x=0) - z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/2→</a:t>
            </a:r>
            <a:r>
              <a:rPr sz="20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2/a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grpSp>
        <p:nvGrpSpPr>
          <p:cNvPr id="3" name="group 2"/>
          <p:cNvGrpSpPr/>
          <p:nvPr/>
        </p:nvGrpSpPr>
        <p:grpSpPr>
          <a:xfrm rot="21600000">
            <a:off x="8039861" y="5263654"/>
            <a:ext cx="2714447" cy="773582"/>
            <a:chOff x="0" y="0"/>
            <a:chExt cx="2714447" cy="773582"/>
          </a:xfrm>
        </p:grpSpPr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2714447" cy="773582"/>
            </a:xfrm>
            <a:prstGeom prst="rect">
              <a:avLst/>
            </a:prstGeom>
          </p:spPr>
        </p:pic>
        <p:sp>
          <p:nvSpPr>
            <p:cNvPr id="24" name="textbox 24"/>
            <p:cNvSpPr/>
            <p:nvPr/>
          </p:nvSpPr>
          <p:spPr>
            <a:xfrm>
              <a:off x="-12700" y="-12700"/>
              <a:ext cx="2740025" cy="8039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1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8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017270" algn="l" rtl="0" eaLnBrk="0">
                <a:lnSpc>
                  <a:spcPct val="70000"/>
                </a:lnSpc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4-DoF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5000"/>
                </a:lnSpc>
              </a:pPr>
              <a:endParaRPr sz="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202565" algn="l" rtl="0" eaLnBrk="0">
                <a:lnSpc>
                  <a:spcPct val="78000"/>
                </a:lnSpc>
                <a:spcBef>
                  <a:spcPts val="5"/>
                </a:spcBef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Representation O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utput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26" name="textbox 26"/>
          <p:cNvSpPr/>
          <p:nvPr/>
        </p:nvSpPr>
        <p:spPr>
          <a:xfrm>
            <a:off x="7759459" y="1678990"/>
            <a:ext cx="3119120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(c)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Head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Directions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Cells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28" name="textbox 28"/>
          <p:cNvSpPr/>
          <p:nvPr/>
        </p:nvSpPr>
        <p:spPr>
          <a:xfrm>
            <a:off x="8655725" y="3051413"/>
            <a:ext cx="1191894" cy="6635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ct val="68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cell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marL="71755" indent="-59690" algn="l" rtl="0" eaLnBrk="0">
              <a:lnSpc>
                <a:spcPct val="94000"/>
              </a:lnSpc>
              <a:spcBef>
                <a:spcPts val="0"/>
              </a:spcBef>
            </a:pP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Concatenatio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n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[g_</a:t>
            </a:r>
            <a:r>
              <a:rPr sz="15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xyz</a:t>
            </a:r>
            <a:r>
              <a:rPr sz="1500" kern="0" spc="1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500" kern="0" spc="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; h_ψ]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06145" y="1678457"/>
            <a:ext cx="1875789" cy="3092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3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Position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7823987" y="3051413"/>
            <a:ext cx="798830" cy="2641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3D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grid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605290" y="5298112"/>
            <a:ext cx="1073150" cy="1708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145"/>
              </a:lnSpc>
              <a:tabLst>
                <a:tab pos="634365" algn="l"/>
              </a:tabLst>
            </a:pPr>
            <a:r>
              <a:rPr sz="1500" strike="sngStrike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	</a:t>
            </a:r>
            <a:r>
              <a:rPr sz="1500" kern="0" spc="4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Head</a:t>
            </a:r>
            <a:endParaRPr sz="15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36" name="path 36"/>
          <p:cNvSpPr/>
          <p:nvPr/>
        </p:nvSpPr>
        <p:spPr>
          <a:xfrm>
            <a:off x="8308847" y="3302508"/>
            <a:ext cx="176783" cy="490727"/>
          </a:xfrm>
          <a:custGeom>
            <a:avLst/>
            <a:gdLst/>
            <a:ahLst/>
            <a:cxnLst/>
            <a:rect l="0" t="0" r="0" b="0"/>
            <a:pathLst>
              <a:path w="278" h="772">
                <a:moveTo>
                  <a:pt x="0" y="633"/>
                </a:moveTo>
                <a:lnTo>
                  <a:pt x="69" y="633"/>
                </a:lnTo>
                <a:lnTo>
                  <a:pt x="69" y="0"/>
                </a:lnTo>
                <a:lnTo>
                  <a:pt x="208" y="0"/>
                </a:lnTo>
                <a:lnTo>
                  <a:pt x="208" y="633"/>
                </a:lnTo>
                <a:lnTo>
                  <a:pt x="278" y="633"/>
                </a:lnTo>
                <a:lnTo>
                  <a:pt x="139" y="772"/>
                </a:lnTo>
                <a:lnTo>
                  <a:pt x="0" y="633"/>
                </a:lnTo>
              </a:path>
            </a:pathLst>
          </a:custGeom>
          <a:solidFill>
            <a:srgbClr val="A5FFF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38" name="picture 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293011" y="3296284"/>
            <a:ext cx="208457" cy="506183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10024021" y="3306444"/>
            <a:ext cx="208457" cy="496023"/>
          </a:xfrm>
          <a:prstGeom prst="rect">
            <a:avLst/>
          </a:prstGeom>
        </p:spPr>
      </p:pic>
      <p:sp>
        <p:nvSpPr>
          <p:cNvPr id="42" name="textbox 42"/>
          <p:cNvSpPr/>
          <p:nvPr/>
        </p:nvSpPr>
        <p:spPr>
          <a:xfrm>
            <a:off x="10272114" y="3140618"/>
            <a:ext cx="444500" cy="2425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1000"/>
              </a:lnSpc>
            </a:pP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Hdc</a:t>
            </a:r>
            <a:endParaRPr sz="20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4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9226728" y="4951412"/>
            <a:ext cx="208215" cy="317868"/>
          </a:xfrm>
          <a:prstGeom prst="rect">
            <a:avLst/>
          </a:prstGeom>
        </p:spPr>
      </p:pic>
      <p:pic>
        <p:nvPicPr>
          <p:cNvPr id="46" name="picture 4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2617990" y="5117426"/>
            <a:ext cx="619670" cy="163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21600000">
            <a:off x="3837574" y="1744980"/>
            <a:ext cx="3683365" cy="3706952"/>
            <a:chOff x="0" y="0"/>
            <a:chExt cx="3683365" cy="3706952"/>
          </a:xfrm>
        </p:grpSpPr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 rot="21600000">
              <a:off x="582025" y="0"/>
              <a:ext cx="3101340" cy="3035807"/>
            </a:xfrm>
            <a:prstGeom prst="rect">
              <a:avLst/>
            </a:prstGeom>
          </p:spPr>
        </p:pic>
        <p:sp>
          <p:nvSpPr>
            <p:cNvPr id="4" name="textbox 4"/>
            <p:cNvSpPr/>
            <p:nvPr/>
          </p:nvSpPr>
          <p:spPr>
            <a:xfrm>
              <a:off x="232940" y="709929"/>
              <a:ext cx="3121660" cy="301243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2455"/>
                </a:lnSpc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2.0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480" algn="l" rtl="0" eaLnBrk="0">
                <a:lnSpc>
                  <a:spcPts val="4320"/>
                </a:lnSpc>
              </a:pPr>
              <a:r>
                <a:rPr sz="1700" kern="0" spc="-3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1.5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60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0480" algn="l" rtl="0" eaLnBrk="0">
                <a:lnSpc>
                  <a:spcPct val="74000"/>
                </a:lnSpc>
                <a:spcBef>
                  <a:spcPts val="510"/>
                </a:spcBef>
              </a:pPr>
              <a:r>
                <a:rPr sz="1700" kern="0" spc="-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1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44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40" algn="l" rtl="0" eaLnBrk="0">
                <a:lnSpc>
                  <a:spcPts val="2455"/>
                </a:lnSpc>
                <a:spcBef>
                  <a:spcPts val="520"/>
                </a:spcBef>
              </a:pPr>
              <a:r>
                <a:rPr sz="1700" kern="0" spc="1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0.5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r" rtl="0" eaLnBrk="0">
                <a:lnSpc>
                  <a:spcPct val="70000"/>
                </a:lnSpc>
                <a:spcBef>
                  <a:spcPts val="460"/>
                </a:spcBef>
              </a:pP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0           2</a:t>
              </a: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</a:t>
              </a: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4</a:t>
              </a:r>
              <a:r>
                <a:rPr sz="15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</a:t>
              </a: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6          8       10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06000"/>
                </a:lnSpc>
              </a:pPr>
              <a:endParaRPr sz="1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614170" algn="l" rtl="0" eaLnBrk="0">
                <a:lnSpc>
                  <a:spcPct val="82000"/>
                </a:lnSpc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Time</a:t>
              </a:r>
              <a:r>
                <a:rPr sz="1700" kern="0" spc="1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(s)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6" name="textbox 6"/>
            <p:cNvSpPr/>
            <p:nvPr/>
          </p:nvSpPr>
          <p:spPr>
            <a:xfrm rot="16200000">
              <a:off x="-497266" y="1618829"/>
              <a:ext cx="1181100" cy="21717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9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3000"/>
                </a:lnSpc>
              </a:pPr>
              <a:r>
                <a:rPr sz="15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Velocity</a:t>
              </a:r>
              <a:r>
                <a:rPr sz="1500" kern="0" spc="1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5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(m/s)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8" name="textbox 8"/>
            <p:cNvSpPr/>
            <p:nvPr/>
          </p:nvSpPr>
          <p:spPr>
            <a:xfrm>
              <a:off x="169440" y="161289"/>
              <a:ext cx="336550" cy="33718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2455"/>
                </a:lnSpc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2.5</a:t>
              </a:r>
              <a:endParaRPr sz="1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5" name="group 4"/>
          <p:cNvGrpSpPr/>
          <p:nvPr/>
        </p:nvGrpSpPr>
        <p:grpSpPr>
          <a:xfrm rot="21600000">
            <a:off x="7835900" y="1687829"/>
            <a:ext cx="4046854" cy="3350260"/>
            <a:chOff x="0" y="0"/>
            <a:chExt cx="4046854" cy="3350260"/>
          </a:xfrm>
        </p:grpSpPr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046854" cy="3350260"/>
            </a:xfrm>
            <a:prstGeom prst="rect">
              <a:avLst/>
            </a:prstGeom>
          </p:spPr>
        </p:pic>
        <p:pic>
          <p:nvPicPr>
            <p:cNvPr id="12" name="picture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2009267" y="57886"/>
              <a:ext cx="1767675" cy="775118"/>
            </a:xfrm>
            <a:prstGeom prst="rect">
              <a:avLst/>
            </a:prstGeom>
          </p:spPr>
        </p:pic>
        <p:pic>
          <p:nvPicPr>
            <p:cNvPr id="14" name="pictur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21600000">
              <a:off x="815340" y="1218450"/>
              <a:ext cx="2676525" cy="1870824"/>
            </a:xfrm>
            <a:prstGeom prst="rect">
              <a:avLst/>
            </a:prstGeom>
          </p:spPr>
        </p:pic>
        <p:sp>
          <p:nvSpPr>
            <p:cNvPr id="16" name="textbox 16"/>
            <p:cNvSpPr/>
            <p:nvPr/>
          </p:nvSpPr>
          <p:spPr>
            <a:xfrm>
              <a:off x="570966" y="93700"/>
              <a:ext cx="3199764" cy="31883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7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522730" algn="l" rtl="0" eaLnBrk="0">
                <a:lnSpc>
                  <a:spcPct val="82000"/>
                </a:lnSpc>
              </a:pP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Vestibular</a:t>
              </a:r>
              <a:r>
                <a:rPr sz="1700" kern="0" spc="1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7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System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r" rtl="0" eaLnBrk="0">
                <a:lnSpc>
                  <a:spcPct val="69000"/>
                </a:lnSpc>
                <a:spcBef>
                  <a:spcPts val="1565"/>
                </a:spcBef>
              </a:pP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V1→V2 →V4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→IT</a:t>
              </a:r>
              <a:endParaRPr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  <a:spcBef>
                  <a:spcPts val="510"/>
                </a:spcBef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Low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pass</a:t>
              </a:r>
              <a:r>
                <a:rPr sz="1700" kern="0" spc="6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     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High</a:t>
              </a:r>
              <a:r>
                <a:rPr sz="17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-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pass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4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29945" algn="l" rtl="0" eaLnBrk="0">
                <a:lnSpc>
                  <a:spcPct val="79000"/>
                </a:lnSpc>
                <a:spcBef>
                  <a:spcPts val="600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CNS Integration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350520" algn="l" rtl="0" eaLnBrk="0">
                <a:lnSpc>
                  <a:spcPct val="71000"/>
                </a:lnSpc>
                <a:spcBef>
                  <a:spcPts val="205"/>
                </a:spcBef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(Vestibular Nuclei + Cerebellum)</a:t>
              </a:r>
              <a:endParaRPr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867410" indent="-235585" algn="l" rtl="0" eaLnBrk="0">
                <a:lnSpc>
                  <a:spcPct val="107000"/>
                </a:lnSpc>
                <a:spcBef>
                  <a:spcPts val="10"/>
                </a:spcBef>
              </a:pPr>
              <a:r>
                <a:rPr sz="1400" kern="0" spc="-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vf = H_LP·vᵛis + H_HP·viᵐᵘ</a:t>
              </a:r>
              <a:r>
                <a:rPr sz="14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Optimal</a:t>
              </a:r>
              <a:r>
                <a:rPr sz="1400" kern="0" spc="5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estimate</a:t>
              </a:r>
              <a:endParaRPr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577850" algn="l" rtl="0" eaLnBrk="0">
                <a:lnSpc>
                  <a:spcPct val="71000"/>
                </a:lnSpc>
                <a:spcBef>
                  <a:spcPts val="1460"/>
                </a:spcBef>
              </a:pPr>
              <a:r>
                <a:rPr sz="20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Robust Self-M</a:t>
              </a: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otion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1146810" algn="l" rtl="0" eaLnBrk="0">
                <a:lnSpc>
                  <a:spcPct val="71000"/>
                </a:lnSpc>
                <a:spcBef>
                  <a:spcPts val="695"/>
                </a:spcBef>
              </a:pPr>
              <a:r>
                <a:rPr sz="20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Estimate</a:t>
              </a:r>
              <a:endParaRPr sz="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468630" algn="l" rtl="0" eaLnBrk="0">
                <a:lnSpc>
                  <a:spcPct val="90000"/>
                </a:lnSpc>
                <a:spcBef>
                  <a:spcPts val="330"/>
                </a:spcBef>
              </a:pP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✓</a:t>
              </a:r>
              <a:r>
                <a:rPr sz="1400" kern="0" spc="-32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Drift-free</a:t>
              </a:r>
              <a:r>
                <a:rPr sz="1400" kern="0" spc="2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1400" kern="0" spc="-1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✓</a:t>
              </a:r>
              <a:r>
                <a:rPr sz="1400" kern="0" spc="-320" dirty="0">
                  <a:solidFill>
                    <a:srgbClr val="000000">
                      <a:alpha val="100000"/>
                    </a:srgbClr>
                  </a:solidFill>
                  <a:latin typeface="MS Gothic" panose="020B0609070205080204" charset="-128"/>
                  <a:ea typeface="MS Gothic" panose="020B0609070205080204" charset="-128"/>
                  <a:cs typeface="MS Gothic" panose="020B0609070205080204" charset="-128"/>
                </a:rPr>
                <a:t> </a:t>
              </a:r>
              <a:r>
                <a:rPr sz="1400" kern="0" spc="-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Fast response)</a:t>
              </a:r>
              <a:endParaRPr sz="14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18" name="path 18"/>
            <p:cNvSpPr/>
            <p:nvPr/>
          </p:nvSpPr>
          <p:spPr>
            <a:xfrm>
              <a:off x="2004757" y="2182644"/>
              <a:ext cx="181356" cy="306978"/>
            </a:xfrm>
            <a:custGeom>
              <a:avLst/>
              <a:gdLst/>
              <a:ahLst/>
              <a:cxnLst/>
              <a:rect l="0" t="0" r="0" b="0"/>
              <a:pathLst>
                <a:path w="285" h="483">
                  <a:moveTo>
                    <a:pt x="213" y="0"/>
                  </a:moveTo>
                  <a:lnTo>
                    <a:pt x="213" y="344"/>
                  </a:lnTo>
                  <a:lnTo>
                    <a:pt x="285" y="344"/>
                  </a:lnTo>
                  <a:lnTo>
                    <a:pt x="144" y="483"/>
                  </a:lnTo>
                  <a:lnTo>
                    <a:pt x="0" y="344"/>
                  </a:lnTo>
                  <a:lnTo>
                    <a:pt x="72" y="344"/>
                  </a:lnTo>
                  <a:lnTo>
                    <a:pt x="72" y="0"/>
                  </a:lnTo>
                  <a:lnTo>
                    <a:pt x="213" y="0"/>
                  </a:lnTo>
                </a:path>
              </a:pathLst>
            </a:custGeom>
            <a:solidFill>
              <a:srgbClr val="FDF2D9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pic>
          <p:nvPicPr>
            <p:cNvPr id="20" name="picture 20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1989365" y="2176467"/>
              <a:ext cx="212267" cy="322664"/>
            </a:xfrm>
            <a:prstGeom prst="rect">
              <a:avLst/>
            </a:prstGeom>
          </p:spPr>
        </p:pic>
        <p:pic>
          <p:nvPicPr>
            <p:cNvPr id="22" name="picture 2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273621" y="57886"/>
              <a:ext cx="1680374" cy="775118"/>
            </a:xfrm>
            <a:prstGeom prst="rect">
              <a:avLst/>
            </a:prstGeom>
          </p:spPr>
        </p:pic>
        <p:pic>
          <p:nvPicPr>
            <p:cNvPr id="24" name="picture 2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2022202" y="295184"/>
              <a:ext cx="357777" cy="474326"/>
            </a:xfrm>
            <a:prstGeom prst="rect">
              <a:avLst/>
            </a:prstGeom>
          </p:spPr>
        </p:pic>
        <p:pic>
          <p:nvPicPr>
            <p:cNvPr id="26" name="picture 26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2306015" y="821068"/>
              <a:ext cx="317830" cy="421347"/>
            </a:xfrm>
            <a:prstGeom prst="rect">
              <a:avLst/>
            </a:prstGeom>
          </p:spPr>
        </p:pic>
        <p:pic>
          <p:nvPicPr>
            <p:cNvPr id="28" name="picture 28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 rot="21600000">
              <a:off x="1911334" y="1201146"/>
              <a:ext cx="338866" cy="276371"/>
            </a:xfrm>
            <a:prstGeom prst="rect">
              <a:avLst/>
            </a:prstGeom>
          </p:spPr>
        </p:pic>
        <p:pic>
          <p:nvPicPr>
            <p:cNvPr id="30" name="picture 30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21600000">
              <a:off x="305689" y="963929"/>
              <a:ext cx="222885" cy="163157"/>
            </a:xfrm>
            <a:prstGeom prst="rect">
              <a:avLst/>
            </a:prstGeom>
          </p:spPr>
        </p:pic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 rot="21600000">
              <a:off x="3635629" y="941070"/>
              <a:ext cx="222885" cy="160972"/>
            </a:xfrm>
            <a:prstGeom prst="rect">
              <a:avLst/>
            </a:prstGeom>
          </p:spPr>
        </p:pic>
      </p:grpSp>
      <p:grpSp>
        <p:nvGrpSpPr>
          <p:cNvPr id="7" name="group 6"/>
          <p:cNvGrpSpPr/>
          <p:nvPr/>
        </p:nvGrpSpPr>
        <p:grpSpPr>
          <a:xfrm rot="21600000">
            <a:off x="209219" y="1722120"/>
            <a:ext cx="3456000" cy="3730243"/>
            <a:chOff x="0" y="0"/>
            <a:chExt cx="3456000" cy="3730243"/>
          </a:xfrm>
        </p:grpSpPr>
        <p:pic>
          <p:nvPicPr>
            <p:cNvPr id="34" name="picture 34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21600000">
              <a:off x="575640" y="0"/>
              <a:ext cx="2880360" cy="3066287"/>
            </a:xfrm>
            <a:prstGeom prst="rect">
              <a:avLst/>
            </a:prstGeom>
          </p:spPr>
        </p:pic>
        <p:sp>
          <p:nvSpPr>
            <p:cNvPr id="36" name="textbox 36"/>
            <p:cNvSpPr/>
            <p:nvPr/>
          </p:nvSpPr>
          <p:spPr>
            <a:xfrm>
              <a:off x="221985" y="3084299"/>
              <a:ext cx="2654935" cy="65913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0000"/>
                </a:lnSpc>
              </a:pPr>
              <a:r>
                <a:rPr sz="2400" kern="0" spc="-40" baseline="13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0.</a:t>
              </a:r>
              <a:r>
                <a:rPr sz="2400" kern="0" spc="-40" baseline="4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2</a:t>
              </a:r>
              <a:r>
                <a:rPr sz="2100" kern="0" spc="-40" baseline="5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</a:t>
              </a:r>
              <a:r>
                <a:rPr sz="2100" kern="0" spc="-40" baseline="-2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.1</a:t>
              </a:r>
              <a:r>
                <a:rPr sz="1300" kern="0" spc="2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</a:t>
              </a:r>
              <a:r>
                <a:rPr sz="13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</a:t>
              </a:r>
              <a:r>
                <a:rPr sz="2400" kern="0" spc="-40" baseline="-2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</a:t>
              </a:r>
              <a:r>
                <a:rPr sz="15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  </a:t>
              </a:r>
              <a:r>
                <a:rPr sz="2400" kern="0" spc="-40" baseline="-2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10</a:t>
              </a:r>
              <a:r>
                <a:rPr sz="1500" kern="0" spc="-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         </a:t>
              </a:r>
              <a:r>
                <a:rPr sz="2400" kern="0" spc="-50" baseline="-200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100</a:t>
              </a:r>
              <a:endParaRPr sz="2400" baseline="-20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marL="829310" algn="l" rtl="0" eaLnBrk="0">
                <a:lnSpc>
                  <a:spcPts val="3485"/>
                </a:lnSpc>
              </a:pP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Frequency</a:t>
              </a:r>
              <a:r>
                <a:rPr sz="1700" kern="0" spc="1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(</a:t>
              </a:r>
              <a:r>
                <a:rPr sz="17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rad</a:t>
              </a:r>
              <a:r>
                <a:rPr sz="1700" kern="0" spc="13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/s)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38" name="textbox 38"/>
            <p:cNvSpPr/>
            <p:nvPr/>
          </p:nvSpPr>
          <p:spPr>
            <a:xfrm>
              <a:off x="221985" y="402059"/>
              <a:ext cx="272415" cy="21367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0175" algn="l" rtl="0" eaLnBrk="0">
                <a:lnSpc>
                  <a:spcPct val="70000"/>
                </a:lnSpc>
              </a:pPr>
              <a:r>
                <a:rPr sz="1500" kern="0" spc="-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1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0000"/>
                </a:lnSpc>
                <a:spcBef>
                  <a:spcPts val="450"/>
                </a:spcBef>
              </a:pPr>
              <a:r>
                <a:rPr sz="15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0.8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1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0000"/>
                </a:lnSpc>
                <a:spcBef>
                  <a:spcPts val="455"/>
                </a:spcBef>
              </a:pPr>
              <a:r>
                <a:rPr sz="15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0.6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  <a:p>
              <a:pPr algn="l" rtl="0" eaLnBrk="0">
                <a:lnSpc>
                  <a:spcPct val="177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26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0000"/>
                </a:lnSpc>
                <a:spcBef>
                  <a:spcPts val="5"/>
                </a:spcBef>
              </a:pPr>
              <a:r>
                <a:rPr sz="1500" kern="0" spc="1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0.4</a:t>
              </a:r>
              <a:endParaRPr sz="15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  <p:sp>
          <p:nvSpPr>
            <p:cNvPr id="40" name="textbox 40"/>
            <p:cNvSpPr/>
            <p:nvPr/>
          </p:nvSpPr>
          <p:spPr>
            <a:xfrm rot="16200000">
              <a:off x="-400850" y="1127272"/>
              <a:ext cx="1012189" cy="2413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2000"/>
                </a:lnSpc>
                <a:spcBef>
                  <a:spcPts val="0"/>
                </a:spcBef>
              </a:pPr>
              <a:r>
                <a:rPr sz="1700" kern="0" spc="4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Magnitude</a:t>
              </a:r>
              <a:endParaRPr sz="17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 rot="21600000">
            <a:off x="4398200" y="1203367"/>
            <a:ext cx="3002611" cy="3532286"/>
            <a:chOff x="0" y="0"/>
            <a:chExt cx="3002611" cy="3532286"/>
          </a:xfrm>
        </p:grpSpPr>
        <p:pic>
          <p:nvPicPr>
            <p:cNvPr id="42" name="picture 42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 rot="21600000">
              <a:off x="87893" y="0"/>
              <a:ext cx="2914718" cy="3532286"/>
            </a:xfrm>
            <a:prstGeom prst="rect">
              <a:avLst/>
            </a:prstGeom>
          </p:spPr>
        </p:pic>
        <p:sp>
          <p:nvSpPr>
            <p:cNvPr id="44" name="textbox 44"/>
            <p:cNvSpPr/>
            <p:nvPr/>
          </p:nvSpPr>
          <p:spPr>
            <a:xfrm>
              <a:off x="-12700" y="-12700"/>
              <a:ext cx="3028314" cy="356171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48000"/>
                </a:lnSpc>
              </a:pPr>
              <a:endParaRPr sz="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1000"/>
                </a:lnSpc>
                <a:spcBef>
                  <a:spcPts val="0"/>
                </a:spcBef>
              </a:pP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(b) </a:t>
              </a: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Time</a:t>
              </a:r>
              <a:r>
                <a:rPr sz="2300" kern="0" spc="8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 </a:t>
              </a:r>
              <a:r>
                <a:rPr sz="2300" kern="0" spc="0" dirty="0">
                  <a:solidFill>
                    <a:srgbClr val="000000">
                      <a:alpha val="100000"/>
                    </a:srgbClr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</a:rPr>
                <a:t>Domain</a:t>
              </a:r>
              <a:endParaRPr sz="2300" dirty="0">
                <a:latin typeface="Times New Roman" panose="02020603050405020304"/>
                <a:ea typeface="Times New Roman" panose="02020603050405020304"/>
                <a:cs typeface="Times New Roman" panose="02020603050405020304"/>
              </a:endParaRPr>
            </a:p>
          </p:txBody>
        </p:sp>
      </p:grpSp>
      <p:sp>
        <p:nvSpPr>
          <p:cNvPr id="46" name="textbox 46"/>
          <p:cNvSpPr/>
          <p:nvPr/>
        </p:nvSpPr>
        <p:spPr>
          <a:xfrm>
            <a:off x="8095487" y="1815640"/>
            <a:ext cx="1611630" cy="6261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21970" indent="-431800" algn="l" rtl="0" eaLnBrk="0">
              <a:lnSpc>
                <a:spcPct val="108000"/>
              </a:lnSpc>
            </a:pP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Visual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000" kern="0" spc="-3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System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1400" kern="0" spc="-1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V1→MT/MST</a:t>
            </a:r>
            <a:endParaRPr sz="14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 rot="21600000">
            <a:off x="8108187" y="2127729"/>
            <a:ext cx="496710" cy="260773"/>
          </a:xfrm>
          <a:prstGeom prst="rect">
            <a:avLst/>
          </a:prstGeom>
        </p:spPr>
      </p:pic>
      <p:sp>
        <p:nvSpPr>
          <p:cNvPr id="50" name="textbox 50"/>
          <p:cNvSpPr/>
          <p:nvPr/>
        </p:nvSpPr>
        <p:spPr>
          <a:xfrm>
            <a:off x="7782991" y="1223695"/>
            <a:ext cx="2805429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(c)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Biological</a:t>
            </a: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Analogy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52" name="textbox 52"/>
          <p:cNvSpPr/>
          <p:nvPr/>
        </p:nvSpPr>
        <p:spPr>
          <a:xfrm>
            <a:off x="753084" y="1184961"/>
            <a:ext cx="2772410" cy="3105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(a)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Frequency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Domain</a:t>
            </a:r>
            <a:endParaRPr sz="2300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54" name="picture 54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 rot="21600000">
            <a:off x="9268435" y="2511387"/>
            <a:ext cx="332575" cy="406882"/>
          </a:xfrm>
          <a:prstGeom prst="rect">
            <a:avLst/>
          </a:prstGeom>
        </p:spPr>
      </p:pic>
      <p:sp>
        <p:nvSpPr>
          <p:cNvPr id="56" name="textbox 56"/>
          <p:cNvSpPr/>
          <p:nvPr/>
        </p:nvSpPr>
        <p:spPr>
          <a:xfrm>
            <a:off x="4073487" y="4649470"/>
            <a:ext cx="143510" cy="3371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455"/>
              </a:lnSpc>
            </a:pPr>
            <a:r>
              <a:rPr sz="17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</a:t>
            </a: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1809</Words>
  <Application>WPS 演示</Application>
  <PresentationFormat/>
  <Paragraphs>235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Arial</vt:lpstr>
      <vt:lpstr>Times New Roman</vt:lpstr>
      <vt:lpstr>黑体</vt:lpstr>
      <vt:lpstr>MS Gothic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WPS_1757898110</cp:lastModifiedBy>
  <cp:revision>1</cp:revision>
  <dcterms:created xsi:type="dcterms:W3CDTF">2026-05-11T12:36:14Z</dcterms:created>
  <dcterms:modified xsi:type="dcterms:W3CDTF">2026-05-11T12:36:14Z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2026-03-17T14:49:10Z</vt:filetime>
  </property>
  <property fmtid="{D5CDD505-2E9C-101B-9397-08002B2CF9AE}" pid="4" name="KSOProductBuildVer">
    <vt:lpwstr>2052-12.1.0.25865</vt:lpwstr>
  </property>
  <property fmtid="{D5CDD505-2E9C-101B-9397-08002B2CF9AE}" pid="5" name="ICV">
    <vt:lpwstr>B43B95EAFEF84A518B8B559FC03DDB22_13</vt:lpwstr>
  </property>
</Properties>
</file>