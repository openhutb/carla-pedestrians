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zh-CN"/>
              <a:t>1_abstract</a:t>
            </a:r>
            <a:endParaRPr lang="en-US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zh-CN"/>
              <a:t>2_framework</a:t>
            </a:r>
            <a:endParaRPr lang="en-US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png"/><Relationship Id="rId8" Type="http://schemas.openxmlformats.org/officeDocument/2006/relationships/image" Target="../media/image8.png"/><Relationship Id="rId7" Type="http://schemas.openxmlformats.org/officeDocument/2006/relationships/image" Target="../media/image7.png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1" Type="http://schemas.openxmlformats.org/officeDocument/2006/relationships/notesSlide" Target="../notesSlides/notesSlide1.xml"/><Relationship Id="rId30" Type="http://schemas.openxmlformats.org/officeDocument/2006/relationships/slideLayout" Target="../slideLayouts/slideLayout1.xml"/><Relationship Id="rId3" Type="http://schemas.openxmlformats.org/officeDocument/2006/relationships/image" Target="../media/image3.jpeg"/><Relationship Id="rId29" Type="http://schemas.openxmlformats.org/officeDocument/2006/relationships/image" Target="../media/image29.png"/><Relationship Id="rId28" Type="http://schemas.openxmlformats.org/officeDocument/2006/relationships/image" Target="../media/image28.png"/><Relationship Id="rId27" Type="http://schemas.openxmlformats.org/officeDocument/2006/relationships/image" Target="../media/image27.png"/><Relationship Id="rId26" Type="http://schemas.openxmlformats.org/officeDocument/2006/relationships/image" Target="../media/image26.png"/><Relationship Id="rId25" Type="http://schemas.openxmlformats.org/officeDocument/2006/relationships/image" Target="../media/image25.png"/><Relationship Id="rId24" Type="http://schemas.openxmlformats.org/officeDocument/2006/relationships/image" Target="../media/image24.png"/><Relationship Id="rId23" Type="http://schemas.openxmlformats.org/officeDocument/2006/relationships/image" Target="../media/image23.png"/><Relationship Id="rId22" Type="http://schemas.openxmlformats.org/officeDocument/2006/relationships/image" Target="../media/image22.png"/><Relationship Id="rId21" Type="http://schemas.openxmlformats.org/officeDocument/2006/relationships/image" Target="../media/image21.png"/><Relationship Id="rId20" Type="http://schemas.openxmlformats.org/officeDocument/2006/relationships/image" Target="../media/image20.png"/><Relationship Id="rId2" Type="http://schemas.openxmlformats.org/officeDocument/2006/relationships/image" Target="../media/image2.png"/><Relationship Id="rId19" Type="http://schemas.openxmlformats.org/officeDocument/2006/relationships/image" Target="../media/image19.png"/><Relationship Id="rId18" Type="http://schemas.openxmlformats.org/officeDocument/2006/relationships/image" Target="../media/image18.png"/><Relationship Id="rId17" Type="http://schemas.openxmlformats.org/officeDocument/2006/relationships/image" Target="../media/image17.png"/><Relationship Id="rId16" Type="http://schemas.openxmlformats.org/officeDocument/2006/relationships/image" Target="../media/image16.png"/><Relationship Id="rId15" Type="http://schemas.openxmlformats.org/officeDocument/2006/relationships/image" Target="../media/image15.png"/><Relationship Id="rId14" Type="http://schemas.openxmlformats.org/officeDocument/2006/relationships/image" Target="../media/image14.jpeg"/><Relationship Id="rId13" Type="http://schemas.openxmlformats.org/officeDocument/2006/relationships/image" Target="../media/image13.png"/><Relationship Id="rId12" Type="http://schemas.openxmlformats.org/officeDocument/2006/relationships/image" Target="../media/image12.png"/><Relationship Id="rId11" Type="http://schemas.openxmlformats.org/officeDocument/2006/relationships/image" Target="../media/image11.png"/><Relationship Id="rId10" Type="http://schemas.openxmlformats.org/officeDocument/2006/relationships/image" Target="../media/image10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57470" y="1550645"/>
            <a:ext cx="11802740" cy="4056147"/>
          </a:xfrm>
          <a:prstGeom prst="rect">
            <a:avLst/>
          </a:prstGeom>
        </p:spPr>
      </p:pic>
      <p:grpSp>
        <p:nvGrpSpPr>
          <p:cNvPr id="3" name="group 2"/>
          <p:cNvGrpSpPr/>
          <p:nvPr/>
        </p:nvGrpSpPr>
        <p:grpSpPr>
          <a:xfrm rot="21600000">
            <a:off x="3676967" y="1557337"/>
            <a:ext cx="5232400" cy="478155"/>
            <a:chOff x="0" y="0"/>
            <a:chExt cx="5232400" cy="478155"/>
          </a:xfrm>
        </p:grpSpPr>
        <p:pic>
          <p:nvPicPr>
            <p:cNvPr id="4" name="picture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0" y="0"/>
              <a:ext cx="5232400" cy="478155"/>
            </a:xfrm>
            <a:prstGeom prst="rect">
              <a:avLst/>
            </a:prstGeom>
          </p:spPr>
        </p:pic>
        <p:sp>
          <p:nvSpPr>
            <p:cNvPr id="6" name="textbox 6"/>
            <p:cNvSpPr/>
            <p:nvPr/>
          </p:nvSpPr>
          <p:spPr>
            <a:xfrm>
              <a:off x="-12700" y="-12700"/>
              <a:ext cx="5258434" cy="50800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5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8000"/>
                </a:lnSpc>
              </a:pPr>
              <a:endParaRPr sz="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363220" algn="l" rtl="0" eaLnBrk="0">
                <a:lnSpc>
                  <a:spcPct val="81000"/>
                </a:lnSpc>
              </a:pPr>
              <a:r>
                <a:rPr sz="2300" kern="0" spc="50" dirty="0">
                  <a:solidFill>
                    <a:srgbClr val="000000">
                      <a:alpha val="100000"/>
                    </a:srgbClr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NeuroLocMap:</a:t>
              </a:r>
              <a:r>
                <a:rPr sz="2300" kern="0" spc="40" dirty="0">
                  <a:solidFill>
                    <a:srgbClr val="000000">
                      <a:alpha val="100000"/>
                    </a:srgbClr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Bio-Inspired   Fusion</a:t>
              </a:r>
              <a:endParaRPr sz="2300" dirty="0"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</p:txBody>
        </p:sp>
      </p:grpSp>
      <p:pic>
        <p:nvPicPr>
          <p:cNvPr id="8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9113519" y="2590800"/>
            <a:ext cx="2505456" cy="992123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8883967" y="1816417"/>
            <a:ext cx="2973069" cy="3716654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3221101" y="2119241"/>
            <a:ext cx="1133475" cy="79909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4660391" y="2112263"/>
            <a:ext cx="1362455" cy="69342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3245485" y="2072005"/>
            <a:ext cx="2771774" cy="2590799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4674780" y="4653279"/>
            <a:ext cx="128447" cy="241934"/>
          </a:xfrm>
          <a:prstGeom prst="rect">
            <a:avLst/>
          </a:prstGeom>
        </p:spPr>
      </p:pic>
      <p:grpSp>
        <p:nvGrpSpPr>
          <p:cNvPr id="5" name="group 4"/>
          <p:cNvGrpSpPr/>
          <p:nvPr/>
        </p:nvGrpSpPr>
        <p:grpSpPr>
          <a:xfrm rot="21600000">
            <a:off x="3196589" y="2011679"/>
            <a:ext cx="3199130" cy="3424554"/>
            <a:chOff x="0" y="0"/>
            <a:chExt cx="3199130" cy="3424554"/>
          </a:xfrm>
        </p:grpSpPr>
        <p:pic>
          <p:nvPicPr>
            <p:cNvPr id="20" name="picture 20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 rot="21600000">
              <a:off x="0" y="0"/>
              <a:ext cx="3199130" cy="3424554"/>
            </a:xfrm>
            <a:prstGeom prst="rect">
              <a:avLst/>
            </a:prstGeom>
          </p:spPr>
        </p:pic>
        <p:sp>
          <p:nvSpPr>
            <p:cNvPr id="22" name="textbox 22"/>
            <p:cNvSpPr/>
            <p:nvPr/>
          </p:nvSpPr>
          <p:spPr>
            <a:xfrm>
              <a:off x="-12700" y="-12700"/>
              <a:ext cx="3225164" cy="344995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0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1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8000"/>
                </a:lnSpc>
              </a:pPr>
              <a:endParaRPr sz="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225550" algn="l" rtl="0" eaLnBrk="0">
                <a:lnSpc>
                  <a:spcPct val="88000"/>
                </a:lnSpc>
              </a:pPr>
              <a:r>
                <a:rPr sz="2300" b="1" kern="0" spc="610" dirty="0">
                  <a:solidFill>
                    <a:srgbClr val="000000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+</a:t>
              </a:r>
              <a:endParaRPr sz="23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endParaRPr>
            </a:p>
          </p:txBody>
        </p:sp>
      </p:grpSp>
      <p:grpSp>
        <p:nvGrpSpPr>
          <p:cNvPr id="7" name="group 6"/>
          <p:cNvGrpSpPr/>
          <p:nvPr/>
        </p:nvGrpSpPr>
        <p:grpSpPr>
          <a:xfrm rot="21600000">
            <a:off x="3196589" y="2011679"/>
            <a:ext cx="3199130" cy="3424554"/>
            <a:chOff x="0" y="0"/>
            <a:chExt cx="3199130" cy="3424554"/>
          </a:xfrm>
        </p:grpSpPr>
        <p:sp>
          <p:nvSpPr>
            <p:cNvPr id="24" name="textbox 24"/>
            <p:cNvSpPr/>
            <p:nvPr/>
          </p:nvSpPr>
          <p:spPr>
            <a:xfrm>
              <a:off x="-12700" y="-12700"/>
              <a:ext cx="3225164" cy="344995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3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3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3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3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3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4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4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4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4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4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4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4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4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4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4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4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4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4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9000"/>
                </a:lnSpc>
              </a:pPr>
              <a:endParaRPr sz="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56515" indent="172085" algn="l" rtl="0" eaLnBrk="0">
                <a:lnSpc>
                  <a:spcPct val="77000"/>
                </a:lnSpc>
              </a:pPr>
              <a:r>
                <a:rPr sz="2700" kern="0" spc="0" baseline="4000" dirty="0">
                  <a:solidFill>
                    <a:srgbClr val="000000">
                      <a:alpha val="100000"/>
                    </a:srgbClr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LSTM</a:t>
              </a:r>
              <a:r>
                <a:rPr sz="1700" kern="0" spc="50" dirty="0">
                  <a:solidFill>
                    <a:srgbClr val="000000">
                      <a:alpha val="100000"/>
                    </a:srgbClr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     </a:t>
              </a:r>
              <a:r>
                <a:rPr sz="3600" b="1" kern="0" spc="0" baseline="-12000" dirty="0">
                  <a:solidFill>
                    <a:srgbClr val="000000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＋</a:t>
              </a:r>
              <a:r>
                <a:rPr sz="2300" kern="0" spc="270" dirty="0">
                  <a:solidFill>
                    <a:srgbClr val="000000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 </a:t>
              </a:r>
              <a:r>
                <a:rPr sz="2700" kern="0" spc="0" baseline="4000" dirty="0">
                  <a:solidFill>
                    <a:srgbClr val="000000">
                      <a:alpha val="100000"/>
                    </a:srgbClr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Lightwei</a:t>
              </a:r>
              <a:r>
                <a:rPr sz="2700" kern="0" spc="-10" baseline="4000" dirty="0">
                  <a:solidFill>
                    <a:srgbClr val="000000">
                      <a:alpha val="100000"/>
                    </a:srgbClr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ght</a:t>
              </a:r>
              <a:r>
                <a:rPr sz="1700" kern="0" spc="0" dirty="0">
                  <a:solidFill>
                    <a:srgbClr val="000000">
                      <a:alpha val="100000"/>
                    </a:srgbClr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        </a:t>
              </a:r>
              <a:r>
                <a:rPr sz="1700" kern="0" spc="40" dirty="0">
                  <a:solidFill>
                    <a:srgbClr val="000000">
                      <a:alpha val="100000"/>
                    </a:srgbClr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Fixed - Gate</a:t>
              </a:r>
              <a:r>
                <a:rPr sz="1700" kern="0" spc="70" dirty="0">
                  <a:solidFill>
                    <a:srgbClr val="000000">
                      <a:alpha val="100000"/>
                    </a:srgbClr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  </a:t>
              </a:r>
              <a:r>
                <a:rPr sz="1700" kern="0" spc="40" dirty="0">
                  <a:solidFill>
                    <a:srgbClr val="000000">
                      <a:alpha val="100000"/>
                    </a:srgbClr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Attention Module</a:t>
              </a:r>
              <a:endParaRPr sz="1700" dirty="0"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</p:txBody>
        </p:sp>
      </p:grpSp>
      <p:pic>
        <p:nvPicPr>
          <p:cNvPr id="26" name="picture 26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1600000">
            <a:off x="1320609" y="4467026"/>
            <a:ext cx="554608" cy="565038"/>
          </a:xfrm>
          <a:prstGeom prst="rect">
            <a:avLst/>
          </a:prstGeom>
        </p:spPr>
      </p:pic>
      <p:pic>
        <p:nvPicPr>
          <p:cNvPr id="28" name="picture 28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21600000">
            <a:off x="1295400" y="3454907"/>
            <a:ext cx="605027" cy="605028"/>
          </a:xfrm>
          <a:prstGeom prst="rect">
            <a:avLst/>
          </a:prstGeom>
        </p:spPr>
      </p:pic>
      <p:pic>
        <p:nvPicPr>
          <p:cNvPr id="30" name="picture 30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21600000">
            <a:off x="1306187" y="2571474"/>
            <a:ext cx="603265" cy="382977"/>
          </a:xfrm>
          <a:prstGeom prst="rect">
            <a:avLst/>
          </a:prstGeom>
        </p:spPr>
      </p:pic>
      <p:pic>
        <p:nvPicPr>
          <p:cNvPr id="32" name="picture 32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 rot="21600000">
            <a:off x="59372" y="1816417"/>
            <a:ext cx="2930525" cy="3716654"/>
          </a:xfrm>
          <a:prstGeom prst="rect">
            <a:avLst/>
          </a:prstGeom>
        </p:spPr>
      </p:pic>
      <p:pic>
        <p:nvPicPr>
          <p:cNvPr id="34" name="picture 34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rot="21600000">
            <a:off x="6588252" y="3634740"/>
            <a:ext cx="615695" cy="594360"/>
          </a:xfrm>
          <a:prstGeom prst="rect">
            <a:avLst/>
          </a:prstGeom>
        </p:spPr>
      </p:pic>
      <p:pic>
        <p:nvPicPr>
          <p:cNvPr id="36" name="picture 36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 rot="21600000">
            <a:off x="7758684" y="3584447"/>
            <a:ext cx="720852" cy="687323"/>
          </a:xfrm>
          <a:prstGeom prst="rect">
            <a:avLst/>
          </a:prstGeom>
        </p:spPr>
      </p:pic>
      <p:pic>
        <p:nvPicPr>
          <p:cNvPr id="38" name="picture 38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 rot="21600000">
            <a:off x="7194718" y="2424607"/>
            <a:ext cx="853524" cy="424053"/>
          </a:xfrm>
          <a:prstGeom prst="rect">
            <a:avLst/>
          </a:prstGeom>
        </p:spPr>
      </p:pic>
      <p:pic>
        <p:nvPicPr>
          <p:cNvPr id="40" name="picture 40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 rot="21600000">
            <a:off x="6353809" y="2022475"/>
            <a:ext cx="2303780" cy="3413125"/>
          </a:xfrm>
          <a:prstGeom prst="rect">
            <a:avLst/>
          </a:prstGeom>
        </p:spPr>
      </p:pic>
      <p:sp>
        <p:nvSpPr>
          <p:cNvPr id="42" name="textbox 42"/>
          <p:cNvSpPr/>
          <p:nvPr/>
        </p:nvSpPr>
        <p:spPr>
          <a:xfrm>
            <a:off x="3395497" y="2217775"/>
            <a:ext cx="5271134" cy="115443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82000"/>
              </a:lnSpc>
            </a:pPr>
            <a:r>
              <a:rPr sz="1700" kern="0" spc="4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(Complementary Fusion)</a:t>
            </a:r>
            <a:endParaRPr sz="170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algn="l" rtl="0" eaLnBrk="0">
              <a:lnSpc>
                <a:spcPct val="11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9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4000"/>
              </a:lnSpc>
              <a:spcBef>
                <a:spcPts val="530"/>
              </a:spcBef>
            </a:pPr>
            <a:r>
              <a:rPr sz="2700" kern="0" spc="0" baseline="-800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Visual</a:t>
            </a:r>
            <a:r>
              <a:rPr sz="1700" kern="0" spc="4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700" kern="0" spc="0" baseline="-800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Cortex</a:t>
            </a:r>
            <a:r>
              <a:rPr sz="1700" kern="0" spc="4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   </a:t>
            </a:r>
            <a:r>
              <a:rPr sz="2700" kern="0" spc="0" baseline="1000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Vestibular</a:t>
            </a:r>
            <a:endParaRPr sz="2700" baseline="1000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marL="666115" algn="l" rtl="0" eaLnBrk="0">
              <a:lnSpc>
                <a:spcPct val="81000"/>
              </a:lnSpc>
              <a:spcBef>
                <a:spcPts val="410"/>
              </a:spcBef>
              <a:tabLst>
                <a:tab pos="1610360" algn="l"/>
              </a:tabLst>
            </a:pPr>
            <a:r>
              <a:rPr sz="17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	</a:t>
            </a:r>
            <a:r>
              <a:rPr sz="1700" kern="0" spc="2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System</a:t>
            </a:r>
            <a:endParaRPr sz="170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pic>
        <p:nvPicPr>
          <p:cNvPr id="44" name="picture 44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 rot="21600000">
            <a:off x="3933736" y="3093084"/>
            <a:ext cx="128447" cy="241935"/>
          </a:xfrm>
          <a:prstGeom prst="rect">
            <a:avLst/>
          </a:prstGeom>
        </p:spPr>
      </p:pic>
      <p:grpSp>
        <p:nvGrpSpPr>
          <p:cNvPr id="9" name="group 8"/>
          <p:cNvGrpSpPr/>
          <p:nvPr/>
        </p:nvGrpSpPr>
        <p:grpSpPr>
          <a:xfrm rot="21600000">
            <a:off x="9107169" y="3564254"/>
            <a:ext cx="2518410" cy="1941829"/>
            <a:chOff x="0" y="0"/>
            <a:chExt cx="2518410" cy="1941829"/>
          </a:xfrm>
        </p:grpSpPr>
        <p:pic>
          <p:nvPicPr>
            <p:cNvPr id="46" name="picture 46"/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 rot="21600000">
              <a:off x="0" y="0"/>
              <a:ext cx="2518410" cy="1941829"/>
            </a:xfrm>
            <a:prstGeom prst="rect">
              <a:avLst/>
            </a:prstGeom>
          </p:spPr>
        </p:pic>
        <p:sp>
          <p:nvSpPr>
            <p:cNvPr id="48" name="textbox 48"/>
            <p:cNvSpPr/>
            <p:nvPr/>
          </p:nvSpPr>
          <p:spPr>
            <a:xfrm>
              <a:off x="-12700" y="-12700"/>
              <a:ext cx="2544445" cy="196722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3000"/>
                </a:lnSpc>
              </a:pPr>
              <a:endParaRPr sz="5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219075" algn="l" rtl="0" eaLnBrk="0">
                <a:lnSpc>
                  <a:spcPct val="80000"/>
                </a:lnSpc>
                <a:spcBef>
                  <a:spcPts val="5"/>
                </a:spcBef>
              </a:pPr>
              <a:r>
                <a:rPr sz="1700" kern="0" spc="-10" dirty="0">
                  <a:solidFill>
                    <a:srgbClr val="000000">
                      <a:alpha val="100000"/>
                    </a:srgbClr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· 38.</a:t>
              </a:r>
              <a:r>
                <a:rPr sz="1700" kern="0" spc="180" dirty="0">
                  <a:solidFill>
                    <a:srgbClr val="000000">
                      <a:alpha val="100000"/>
                    </a:srgbClr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 </a:t>
              </a:r>
              <a:r>
                <a:rPr sz="1700" kern="0" spc="-10" dirty="0">
                  <a:solidFill>
                    <a:srgbClr val="000000">
                      <a:alpha val="100000"/>
                    </a:srgbClr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1%  RMSE</a:t>
              </a:r>
              <a:r>
                <a:rPr sz="1700" kern="0" spc="40" dirty="0">
                  <a:solidFill>
                    <a:srgbClr val="000000">
                      <a:alpha val="100000"/>
                    </a:srgbClr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  </a:t>
              </a:r>
              <a:r>
                <a:rPr sz="1700" kern="0" spc="-10" dirty="0">
                  <a:solidFill>
                    <a:srgbClr val="000000">
                      <a:alpha val="100000"/>
                    </a:srgbClr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↓</a:t>
              </a:r>
              <a:endParaRPr sz="1700" dirty="0"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  <a:p>
              <a:pPr marL="219075" algn="l" rtl="0" eaLnBrk="0">
                <a:lnSpc>
                  <a:spcPct val="70000"/>
                </a:lnSpc>
                <a:spcBef>
                  <a:spcPts val="225"/>
                </a:spcBef>
              </a:pPr>
              <a:r>
                <a:rPr sz="1700" kern="0" spc="-40" dirty="0">
                  <a:solidFill>
                    <a:srgbClr val="000000">
                      <a:alpha val="100000"/>
                    </a:srgbClr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·</a:t>
              </a:r>
              <a:r>
                <a:rPr sz="1700" kern="0" spc="210" dirty="0">
                  <a:solidFill>
                    <a:srgbClr val="000000">
                      <a:alpha val="100000"/>
                    </a:srgbClr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 </a:t>
              </a:r>
              <a:r>
                <a:rPr sz="1700" kern="0" spc="-40" dirty="0">
                  <a:solidFill>
                    <a:srgbClr val="000000">
                      <a:alpha val="100000"/>
                    </a:srgbClr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195 VT</a:t>
              </a:r>
              <a:endParaRPr sz="1700" dirty="0"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  <a:p>
              <a:pPr marL="219075" algn="l" rtl="0" eaLnBrk="0">
                <a:lnSpc>
                  <a:spcPct val="72000"/>
                </a:lnSpc>
                <a:spcBef>
                  <a:spcPts val="425"/>
                </a:spcBef>
              </a:pPr>
              <a:r>
                <a:rPr sz="1700" kern="0" spc="0" dirty="0">
                  <a:solidFill>
                    <a:srgbClr val="000000">
                      <a:alpha val="100000"/>
                    </a:srgbClr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· Real-time:~31 FPS</a:t>
              </a:r>
              <a:endParaRPr sz="1700" dirty="0"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  <a:p>
              <a:pPr marL="219075" algn="l" rtl="0" eaLnBrk="0">
                <a:lnSpc>
                  <a:spcPct val="81000"/>
                </a:lnSpc>
                <a:spcBef>
                  <a:spcPts val="410"/>
                </a:spcBef>
              </a:pPr>
              <a:r>
                <a:rPr sz="1700" kern="0" spc="20" dirty="0">
                  <a:solidFill>
                    <a:srgbClr val="000000">
                      <a:alpha val="100000"/>
                    </a:srgbClr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· </a:t>
              </a:r>
              <a:r>
                <a:rPr sz="1700" kern="0" spc="0" dirty="0">
                  <a:solidFill>
                    <a:srgbClr val="000000">
                      <a:alpha val="100000"/>
                    </a:srgbClr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Zero</a:t>
              </a:r>
              <a:r>
                <a:rPr sz="1700" kern="0" spc="20" dirty="0">
                  <a:solidFill>
                    <a:srgbClr val="000000">
                      <a:alpha val="100000"/>
                    </a:srgbClr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-</a:t>
              </a:r>
              <a:r>
                <a:rPr sz="1700" kern="0" spc="0" dirty="0">
                  <a:solidFill>
                    <a:srgbClr val="000000">
                      <a:alpha val="100000"/>
                    </a:srgbClr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shot</a:t>
              </a:r>
              <a:r>
                <a:rPr sz="1700" kern="0" spc="20" dirty="0">
                  <a:solidFill>
                    <a:srgbClr val="000000">
                      <a:alpha val="100000"/>
                    </a:srgbClr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 </a:t>
              </a:r>
              <a:r>
                <a:rPr sz="1700" kern="0" spc="0" dirty="0">
                  <a:solidFill>
                    <a:srgbClr val="000000">
                      <a:alpha val="100000"/>
                    </a:srgbClr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deployment</a:t>
              </a:r>
              <a:endParaRPr sz="1700" dirty="0"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  <a:p>
              <a:pPr marL="170815" algn="l" rtl="0" eaLnBrk="0">
                <a:lnSpc>
                  <a:spcPct val="121000"/>
                </a:lnSpc>
                <a:spcBef>
                  <a:spcPts val="5"/>
                </a:spcBef>
              </a:pPr>
              <a:r>
                <a:rPr sz="1700" kern="0" spc="100" dirty="0">
                  <a:solidFill>
                    <a:srgbClr val="000000">
                      <a:alpha val="100000"/>
                    </a:srgbClr>
                  </a:solidFill>
                  <a:latin typeface="MS Gothic" panose="020B0609070205080204" charset="-128"/>
                  <a:ea typeface="MS Gothic" panose="020B0609070205080204" charset="-128"/>
                  <a:cs typeface="MS Gothic" panose="020B0609070205080204" charset="-128"/>
                </a:rPr>
                <a:t>☑</a:t>
              </a:r>
              <a:r>
                <a:rPr sz="1700" kern="0" spc="-520" dirty="0">
                  <a:solidFill>
                    <a:srgbClr val="000000">
                      <a:alpha val="100000"/>
                    </a:srgbClr>
                  </a:solidFill>
                  <a:latin typeface="MS Gothic" panose="020B0609070205080204" charset="-128"/>
                  <a:ea typeface="MS Gothic" panose="020B0609070205080204" charset="-128"/>
                  <a:cs typeface="MS Gothic" panose="020B0609070205080204" charset="-128"/>
                </a:rPr>
                <a:t> </a:t>
              </a:r>
              <a:r>
                <a:rPr sz="1700" kern="0" spc="0" dirty="0">
                  <a:solidFill>
                    <a:srgbClr val="000000">
                      <a:alpha val="100000"/>
                    </a:srgbClr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Urban</a:t>
              </a:r>
              <a:r>
                <a:rPr sz="1700" kern="0" spc="100" dirty="0">
                  <a:solidFill>
                    <a:srgbClr val="000000">
                      <a:alpha val="100000"/>
                    </a:srgbClr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 </a:t>
              </a:r>
              <a:r>
                <a:rPr sz="1700" kern="0" spc="0" dirty="0">
                  <a:solidFill>
                    <a:srgbClr val="000000">
                      <a:alpha val="100000"/>
                    </a:srgbClr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environments  </a:t>
              </a:r>
              <a:r>
                <a:rPr sz="1700" kern="0" spc="30" dirty="0">
                  <a:solidFill>
                    <a:srgbClr val="000000">
                      <a:alpha val="100000"/>
                    </a:srgbClr>
                  </a:solidFill>
                  <a:latin typeface="MS Gothic" panose="020B0609070205080204" charset="-128"/>
                  <a:ea typeface="MS Gothic" panose="020B0609070205080204" charset="-128"/>
                  <a:cs typeface="MS Gothic" panose="020B0609070205080204" charset="-128"/>
                </a:rPr>
                <a:t>☑</a:t>
              </a:r>
              <a:r>
                <a:rPr sz="1700" kern="0" spc="-500" dirty="0">
                  <a:solidFill>
                    <a:srgbClr val="000000">
                      <a:alpha val="100000"/>
                    </a:srgbClr>
                  </a:solidFill>
                  <a:latin typeface="MS Gothic" panose="020B0609070205080204" charset="-128"/>
                  <a:ea typeface="MS Gothic" panose="020B0609070205080204" charset="-128"/>
                  <a:cs typeface="MS Gothic" panose="020B0609070205080204" charset="-128"/>
                </a:rPr>
                <a:t> </a:t>
              </a:r>
              <a:r>
                <a:rPr sz="1700" kern="0" spc="0" dirty="0">
                  <a:solidFill>
                    <a:srgbClr val="000000">
                      <a:alpha val="100000"/>
                    </a:srgbClr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Indoor</a:t>
              </a:r>
              <a:r>
                <a:rPr sz="1700" kern="0" spc="290" dirty="0">
                  <a:solidFill>
                    <a:srgbClr val="000000">
                      <a:alpha val="100000"/>
                    </a:srgbClr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 </a:t>
              </a:r>
              <a:r>
                <a:rPr sz="1700" kern="0" spc="0" dirty="0">
                  <a:solidFill>
                    <a:srgbClr val="000000">
                      <a:alpha val="100000"/>
                    </a:srgbClr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spaces</a:t>
              </a:r>
              <a:endParaRPr sz="1700" dirty="0"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  <a:p>
              <a:pPr marL="158115" algn="l" rtl="0" eaLnBrk="0">
                <a:lnSpc>
                  <a:spcPct val="94000"/>
                </a:lnSpc>
                <a:spcBef>
                  <a:spcPts val="15"/>
                </a:spcBef>
              </a:pPr>
              <a:r>
                <a:rPr sz="1700" kern="0" spc="140" dirty="0">
                  <a:solidFill>
                    <a:srgbClr val="000000">
                      <a:alpha val="100000"/>
                    </a:srgbClr>
                  </a:solidFill>
                  <a:latin typeface="MS Gothic" panose="020B0609070205080204" charset="-128"/>
                  <a:ea typeface="MS Gothic" panose="020B0609070205080204" charset="-128"/>
                  <a:cs typeface="MS Gothic" panose="020B0609070205080204" charset="-128"/>
                </a:rPr>
                <a:t>☑</a:t>
              </a:r>
              <a:r>
                <a:rPr sz="1700" kern="0" spc="-360" dirty="0">
                  <a:solidFill>
                    <a:srgbClr val="000000">
                      <a:alpha val="100000"/>
                    </a:srgbClr>
                  </a:solidFill>
                  <a:latin typeface="MS Gothic" panose="020B0609070205080204" charset="-128"/>
                  <a:ea typeface="MS Gothic" panose="020B0609070205080204" charset="-128"/>
                  <a:cs typeface="MS Gothic" panose="020B0609070205080204" charset="-128"/>
                </a:rPr>
                <a:t> </a:t>
              </a:r>
              <a:r>
                <a:rPr sz="1700" kern="0" spc="0" dirty="0">
                  <a:solidFill>
                    <a:srgbClr val="000000">
                      <a:alpha val="100000"/>
                    </a:srgbClr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Challenging</a:t>
              </a:r>
              <a:r>
                <a:rPr sz="1700" kern="0" spc="140" dirty="0">
                  <a:solidFill>
                    <a:srgbClr val="000000">
                      <a:alpha val="100000"/>
                    </a:srgbClr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 </a:t>
              </a:r>
              <a:r>
                <a:rPr sz="1700" kern="0" spc="0" dirty="0">
                  <a:solidFill>
                    <a:srgbClr val="000000">
                      <a:alpha val="100000"/>
                    </a:srgbClr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lighting</a:t>
              </a:r>
              <a:endParaRPr sz="1700" dirty="0"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</p:txBody>
        </p:sp>
      </p:grpSp>
      <p:sp>
        <p:nvSpPr>
          <p:cNvPr id="50" name="textbox 50"/>
          <p:cNvSpPr/>
          <p:nvPr/>
        </p:nvSpPr>
        <p:spPr>
          <a:xfrm>
            <a:off x="6720281" y="3775506"/>
            <a:ext cx="1826895" cy="16084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613410" algn="l" rtl="0" eaLnBrk="0">
              <a:lnSpc>
                <a:spcPct val="88000"/>
              </a:lnSpc>
            </a:pPr>
            <a:r>
              <a:rPr sz="2300" b="1" kern="0" spc="6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+</a:t>
            </a:r>
            <a:endParaRPr sz="23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05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2000"/>
              </a:lnSpc>
              <a:spcBef>
                <a:spcPts val="520"/>
              </a:spcBef>
            </a:pPr>
            <a:r>
              <a:rPr sz="17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Hdc</a:t>
            </a:r>
            <a:r>
              <a:rPr sz="1700" kern="0" spc="7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     3</a:t>
            </a:r>
            <a:r>
              <a:rPr sz="17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D</a:t>
            </a:r>
            <a:r>
              <a:rPr sz="1700" kern="0" spc="7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17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grid</a:t>
            </a:r>
            <a:r>
              <a:rPr sz="1700" kern="0" spc="9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17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cell</a:t>
            </a:r>
            <a:endParaRPr sz="170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algn="l" rtl="0" eaLnBrk="0">
              <a:lnSpc>
                <a:spcPct val="18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08585" algn="l" rtl="0" eaLnBrk="0">
              <a:lnSpc>
                <a:spcPts val="1310"/>
              </a:lnSpc>
              <a:spcBef>
                <a:spcPts val="520"/>
              </a:spcBef>
            </a:pPr>
            <a:r>
              <a:rPr sz="1700" kern="0" spc="1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ψ              </a:t>
            </a:r>
            <a:r>
              <a:rPr sz="17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x, y,</a:t>
            </a:r>
            <a:r>
              <a:rPr sz="1700" kern="0" spc="5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17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z</a:t>
            </a:r>
            <a:endParaRPr sz="170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algn="l" rtl="0" eaLnBrk="0">
              <a:lnSpc>
                <a:spcPct val="116000"/>
              </a:lnSpc>
            </a:pPr>
            <a:endParaRPr sz="6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69240" algn="l" rtl="0" eaLnBrk="0">
              <a:lnSpc>
                <a:spcPct val="81000"/>
              </a:lnSpc>
              <a:spcBef>
                <a:spcPts val="0"/>
              </a:spcBef>
            </a:pPr>
            <a:r>
              <a:rPr sz="1700" kern="0" spc="9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4-</a:t>
            </a:r>
            <a:r>
              <a:rPr sz="17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DoF</a:t>
            </a:r>
            <a:r>
              <a:rPr sz="1700" kern="0" spc="9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  </a:t>
            </a:r>
            <a:r>
              <a:rPr sz="17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pose</a:t>
            </a:r>
            <a:endParaRPr sz="170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52" name="textbox 52"/>
          <p:cNvSpPr/>
          <p:nvPr/>
        </p:nvSpPr>
        <p:spPr>
          <a:xfrm>
            <a:off x="499897" y="3115665"/>
            <a:ext cx="2255520" cy="2387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2000"/>
              </a:lnSpc>
            </a:pPr>
            <a:r>
              <a:rPr sz="1700" kern="0" spc="2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Visual</a:t>
            </a:r>
            <a:r>
              <a:rPr sz="1700" kern="0" spc="33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1700" kern="0" spc="2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drift</a:t>
            </a:r>
            <a:r>
              <a:rPr sz="1700" kern="0" spc="29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1700" kern="0" spc="2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in</a:t>
            </a:r>
            <a:r>
              <a:rPr sz="1700" kern="0" spc="30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1700" kern="0" spc="2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low-</a:t>
            </a:r>
            <a:r>
              <a:rPr sz="1700" kern="0" spc="1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light</a:t>
            </a:r>
            <a:endParaRPr sz="170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pic>
        <p:nvPicPr>
          <p:cNvPr id="54" name="picture 54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 rot="21600000">
            <a:off x="349250" y="2462529"/>
            <a:ext cx="2501900" cy="988060"/>
          </a:xfrm>
          <a:prstGeom prst="rect">
            <a:avLst/>
          </a:prstGeom>
        </p:spPr>
      </p:pic>
      <p:pic>
        <p:nvPicPr>
          <p:cNvPr id="56" name="picture 56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 rot="21600000">
            <a:off x="349250" y="4439920"/>
            <a:ext cx="2501900" cy="988059"/>
          </a:xfrm>
          <a:prstGeom prst="rect">
            <a:avLst/>
          </a:prstGeom>
        </p:spPr>
      </p:pic>
      <p:sp>
        <p:nvSpPr>
          <p:cNvPr id="58" name="textbox 58"/>
          <p:cNvSpPr/>
          <p:nvPr/>
        </p:nvSpPr>
        <p:spPr>
          <a:xfrm>
            <a:off x="170383" y="1839645"/>
            <a:ext cx="2722879" cy="5543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53695" algn="l" rtl="0" eaLnBrk="0">
              <a:lnSpc>
                <a:spcPct val="79000"/>
              </a:lnSpc>
            </a:pPr>
            <a:r>
              <a:rPr sz="2300" kern="0" spc="3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Challenges in</a:t>
            </a:r>
            <a:endParaRPr sz="230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marL="12700" algn="l" rtl="0" eaLnBrk="0">
              <a:lnSpc>
                <a:spcPct val="71000"/>
              </a:lnSpc>
              <a:spcBef>
                <a:spcPts val="25"/>
              </a:spcBef>
            </a:pPr>
            <a:r>
              <a:rPr sz="2300" kern="0" spc="3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Visual-Inertial</a:t>
            </a:r>
            <a:r>
              <a:rPr sz="2300" kern="0" spc="24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300" kern="0" spc="3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SLAM</a:t>
            </a:r>
            <a:endParaRPr sz="230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graphicFrame>
        <p:nvGraphicFramePr>
          <p:cNvPr id="60" name="table 60"/>
          <p:cNvGraphicFramePr>
            <a:graphicFrameLocks noGrp="1"/>
          </p:cNvGraphicFramePr>
          <p:nvPr/>
        </p:nvGraphicFramePr>
        <p:xfrm>
          <a:off x="6511290" y="4771390"/>
          <a:ext cx="2115184" cy="609600"/>
        </p:xfrm>
        <a:graphic>
          <a:graphicData uri="http://schemas.openxmlformats.org/drawingml/2006/table">
            <a:tbl>
              <a:tblPr/>
              <a:tblGrid>
                <a:gridCol w="2115184"/>
              </a:tblGrid>
              <a:tr h="6032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2" name="textbox 62"/>
          <p:cNvSpPr/>
          <p:nvPr/>
        </p:nvSpPr>
        <p:spPr>
          <a:xfrm>
            <a:off x="4927142" y="3542385"/>
            <a:ext cx="1003935" cy="106171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48285" algn="l" rtl="0" eaLnBrk="0">
              <a:lnSpc>
                <a:spcPct val="72000"/>
              </a:lnSpc>
            </a:pPr>
            <a:r>
              <a:rPr sz="1700" kern="0" spc="2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imu</a:t>
            </a:r>
            <a:endParaRPr sz="170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marL="12700" algn="l" rtl="0" eaLnBrk="0">
              <a:lnSpc>
                <a:spcPct val="82000"/>
              </a:lnSpc>
              <a:spcBef>
                <a:spcPts val="695"/>
              </a:spcBef>
            </a:pPr>
            <a:r>
              <a:rPr sz="1700" kern="0" spc="4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processing</a:t>
            </a:r>
            <a:endParaRPr sz="170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marL="212725" algn="l" rtl="0" eaLnBrk="0">
              <a:lnSpc>
                <a:spcPct val="82000"/>
              </a:lnSpc>
              <a:spcBef>
                <a:spcPts val="485"/>
              </a:spcBef>
            </a:pPr>
            <a:r>
              <a:rPr sz="1700" kern="0" spc="7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r_</a:t>
            </a:r>
            <a:r>
              <a:rPr sz="17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imu</a:t>
            </a:r>
            <a:r>
              <a:rPr sz="1700" kern="0" spc="7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,</a:t>
            </a:r>
            <a:endParaRPr sz="170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marL="213360" algn="l" rtl="0" eaLnBrk="0">
              <a:lnSpc>
                <a:spcPct val="82000"/>
              </a:lnSpc>
              <a:spcBef>
                <a:spcPts val="485"/>
              </a:spcBef>
            </a:pPr>
            <a:r>
              <a:rPr sz="1700" kern="0" spc="11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v_</a:t>
            </a:r>
            <a:r>
              <a:rPr sz="17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imu</a:t>
            </a:r>
            <a:endParaRPr sz="170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64" name="textbox 64"/>
          <p:cNvSpPr/>
          <p:nvPr/>
        </p:nvSpPr>
        <p:spPr>
          <a:xfrm>
            <a:off x="6977456" y="3106775"/>
            <a:ext cx="1253489" cy="50990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29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2225" indent="-10160" algn="l" rtl="0" eaLnBrk="0">
              <a:lnSpc>
                <a:spcPct val="95000"/>
              </a:lnSpc>
            </a:pPr>
            <a:r>
              <a:rPr sz="1700" kern="0" spc="4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Hippocampal </a:t>
            </a:r>
            <a:r>
              <a:rPr sz="1700" kern="0" spc="3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Spatial Ce</a:t>
            </a:r>
            <a:r>
              <a:rPr sz="1700" kern="0" spc="2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lls</a:t>
            </a:r>
            <a:endParaRPr sz="170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66" name="textbox 66"/>
          <p:cNvSpPr/>
          <p:nvPr/>
        </p:nvSpPr>
        <p:spPr>
          <a:xfrm>
            <a:off x="9233992" y="1936165"/>
            <a:ext cx="2432685" cy="2781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72000"/>
              </a:lnSpc>
            </a:pPr>
            <a:r>
              <a:rPr sz="2300" kern="0" spc="1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Robust</a:t>
            </a:r>
            <a:r>
              <a:rPr sz="2300" kern="0" spc="16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300" kern="0" spc="1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Localizati</a:t>
            </a:r>
            <a:r>
              <a:rPr sz="23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on</a:t>
            </a:r>
            <a:endParaRPr sz="230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68" name="textbox 68"/>
          <p:cNvSpPr/>
          <p:nvPr/>
        </p:nvSpPr>
        <p:spPr>
          <a:xfrm>
            <a:off x="3500678" y="3345611"/>
            <a:ext cx="1097280" cy="4826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94640" algn="l" rtl="0" eaLnBrk="0">
              <a:lnSpc>
                <a:spcPct val="70000"/>
              </a:lnSpc>
            </a:pPr>
            <a:r>
              <a:rPr sz="1700" kern="0" spc="4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HART</a:t>
            </a:r>
            <a:endParaRPr sz="170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algn="l" rtl="0" eaLnBrk="0">
              <a:lnSpc>
                <a:spcPct val="118000"/>
              </a:lnSpc>
            </a:pPr>
            <a:endParaRPr sz="5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72000"/>
              </a:lnSpc>
              <a:spcBef>
                <a:spcPts val="0"/>
              </a:spcBef>
            </a:pPr>
            <a:r>
              <a:rPr sz="1700" kern="0" spc="3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dual-stream</a:t>
            </a:r>
            <a:endParaRPr sz="170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pic>
        <p:nvPicPr>
          <p:cNvPr id="70" name="picture 70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 rot="21600000">
            <a:off x="8561303" y="3279468"/>
            <a:ext cx="509273" cy="748008"/>
          </a:xfrm>
          <a:prstGeom prst="rect">
            <a:avLst/>
          </a:prstGeom>
        </p:spPr>
      </p:pic>
      <p:sp>
        <p:nvSpPr>
          <p:cNvPr id="72" name="textbox 72"/>
          <p:cNvSpPr/>
          <p:nvPr/>
        </p:nvSpPr>
        <p:spPr>
          <a:xfrm>
            <a:off x="3285566" y="4122775"/>
            <a:ext cx="631190" cy="48450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72000"/>
              </a:lnSpc>
            </a:pPr>
            <a:r>
              <a:rPr sz="1700" kern="0" spc="3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Dorsal</a:t>
            </a:r>
            <a:endParaRPr sz="170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algn="l" rtl="0" eaLnBrk="0">
              <a:lnSpc>
                <a:spcPct val="103000"/>
              </a:lnSpc>
            </a:pPr>
            <a:endParaRPr sz="7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9685" algn="l" rtl="0" eaLnBrk="0">
              <a:lnSpc>
                <a:spcPts val="1270"/>
              </a:lnSpc>
              <a:spcBef>
                <a:spcPts val="5"/>
              </a:spcBef>
            </a:pPr>
            <a:r>
              <a:rPr sz="1700" kern="0" spc="2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stream</a:t>
            </a:r>
            <a:endParaRPr sz="170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pic>
        <p:nvPicPr>
          <p:cNvPr id="74" name="picture 74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 rot="21600000">
            <a:off x="2892168" y="3442498"/>
            <a:ext cx="510266" cy="745785"/>
          </a:xfrm>
          <a:prstGeom prst="rect">
            <a:avLst/>
          </a:prstGeom>
        </p:spPr>
      </p:pic>
      <p:sp>
        <p:nvSpPr>
          <p:cNvPr id="76" name="textbox 76"/>
          <p:cNvSpPr/>
          <p:nvPr/>
        </p:nvSpPr>
        <p:spPr>
          <a:xfrm>
            <a:off x="659891" y="5082895"/>
            <a:ext cx="1826895" cy="2381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2000"/>
              </a:lnSpc>
            </a:pPr>
            <a:r>
              <a:rPr sz="1700" kern="0" spc="2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Loop closure fail</a:t>
            </a:r>
            <a:r>
              <a:rPr sz="1700" kern="0" spc="1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ure</a:t>
            </a:r>
            <a:endParaRPr sz="170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78" name="textbox 78"/>
          <p:cNvSpPr/>
          <p:nvPr/>
        </p:nvSpPr>
        <p:spPr>
          <a:xfrm>
            <a:off x="9544253" y="2291130"/>
            <a:ext cx="1325244" cy="3105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1000"/>
              </a:lnSpc>
            </a:pPr>
            <a:r>
              <a:rPr sz="2300" kern="0" spc="11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&amp;</a:t>
            </a:r>
            <a:r>
              <a:rPr sz="23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Mapping</a:t>
            </a:r>
            <a:endParaRPr sz="230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80" name="textbox 80"/>
          <p:cNvSpPr/>
          <p:nvPr/>
        </p:nvSpPr>
        <p:spPr>
          <a:xfrm>
            <a:off x="490855" y="4128490"/>
            <a:ext cx="2127885" cy="2127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72000"/>
              </a:lnSpc>
            </a:pPr>
            <a:r>
              <a:rPr sz="1700" kern="0" spc="2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IMU bias accumulation</a:t>
            </a:r>
            <a:endParaRPr sz="170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82" name="textbox 82"/>
          <p:cNvSpPr/>
          <p:nvPr/>
        </p:nvSpPr>
        <p:spPr>
          <a:xfrm>
            <a:off x="4180992" y="4122775"/>
            <a:ext cx="683894" cy="48450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72000"/>
              </a:lnSpc>
            </a:pPr>
            <a:r>
              <a:rPr sz="17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Ventral</a:t>
            </a:r>
            <a:endParaRPr sz="170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algn="l" rtl="0" eaLnBrk="0">
              <a:lnSpc>
                <a:spcPct val="103000"/>
              </a:lnSpc>
            </a:pPr>
            <a:endParaRPr sz="7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1590" algn="l" rtl="0" eaLnBrk="0">
              <a:lnSpc>
                <a:spcPts val="1270"/>
              </a:lnSpc>
              <a:spcBef>
                <a:spcPts val="5"/>
              </a:spcBef>
            </a:pPr>
            <a:r>
              <a:rPr sz="1700" kern="0" spc="2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stream</a:t>
            </a:r>
            <a:endParaRPr sz="170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pic>
        <p:nvPicPr>
          <p:cNvPr id="84" name="picture 84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 rot="21600000">
            <a:off x="6830605" y="4509770"/>
            <a:ext cx="128448" cy="241934"/>
          </a:xfrm>
          <a:prstGeom prst="rect">
            <a:avLst/>
          </a:prstGeom>
        </p:spPr>
      </p:pic>
      <p:pic>
        <p:nvPicPr>
          <p:cNvPr id="86" name="picture 86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 rot="21600000">
            <a:off x="5341530" y="3342004"/>
            <a:ext cx="128447" cy="241935"/>
          </a:xfrm>
          <a:prstGeom prst="rect">
            <a:avLst/>
          </a:prstGeom>
        </p:spPr>
      </p:pic>
      <p:pic>
        <p:nvPicPr>
          <p:cNvPr id="88" name="picture 88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 rot="21600000">
            <a:off x="7983131" y="4509770"/>
            <a:ext cx="128447" cy="241934"/>
          </a:xfrm>
          <a:prstGeom prst="rect">
            <a:avLst/>
          </a:prstGeom>
        </p:spPr>
      </p:pic>
      <p:pic>
        <p:nvPicPr>
          <p:cNvPr id="90" name="picture 90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 rot="21600000">
            <a:off x="4465866" y="3899534"/>
            <a:ext cx="128447" cy="241935"/>
          </a:xfrm>
          <a:prstGeom prst="rect">
            <a:avLst/>
          </a:prstGeom>
        </p:spPr>
      </p:pic>
      <p:pic>
        <p:nvPicPr>
          <p:cNvPr id="92" name="picture 92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 rot="21600000">
            <a:off x="3570516" y="3899534"/>
            <a:ext cx="128447" cy="241935"/>
          </a:xfrm>
          <a:prstGeom prst="rect">
            <a:avLst/>
          </a:prstGeom>
        </p:spPr>
      </p:pic>
      <p:pic>
        <p:nvPicPr>
          <p:cNvPr id="94" name="picture 94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 rot="21600000">
            <a:off x="7531011" y="2851150"/>
            <a:ext cx="128447" cy="24193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21600000">
            <a:off x="0" y="1061720"/>
            <a:ext cx="4459566" cy="4512944"/>
            <a:chOff x="0" y="0"/>
            <a:chExt cx="4459566" cy="4512944"/>
          </a:xfrm>
        </p:grpSpPr>
        <p:pic>
          <p:nvPicPr>
            <p:cNvPr id="3" name="picture 2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 rot="21600000">
              <a:off x="0" y="0"/>
              <a:ext cx="4459566" cy="4512944"/>
            </a:xfrm>
            <a:prstGeom prst="rect">
              <a:avLst/>
            </a:prstGeom>
          </p:spPr>
        </p:pic>
        <p:sp>
          <p:nvSpPr>
            <p:cNvPr id="4" name="textbox 4"/>
            <p:cNvSpPr/>
            <p:nvPr/>
          </p:nvSpPr>
          <p:spPr>
            <a:xfrm>
              <a:off x="1260619" y="49677"/>
              <a:ext cx="2908935" cy="128460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74000"/>
                </a:lnSpc>
              </a:pPr>
              <a:endParaRPr sz="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2700" algn="l" rtl="0" eaLnBrk="0">
                <a:lnSpc>
                  <a:spcPct val="78000"/>
                </a:lnSpc>
              </a:pPr>
              <a:r>
                <a:rPr sz="2000" b="1" kern="0" spc="0" dirty="0">
                  <a:solidFill>
                    <a:srgbClr val="000000">
                      <a:alpha val="100000"/>
                    </a:srgbClr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Vestibular Sy</a:t>
              </a:r>
              <a:r>
                <a:rPr sz="2000" b="1" kern="0" spc="-10" dirty="0">
                  <a:solidFill>
                    <a:srgbClr val="000000">
                      <a:alpha val="100000"/>
                    </a:srgbClr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stem</a:t>
              </a:r>
              <a:endParaRPr sz="2000" dirty="0"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  <a:p>
              <a:pPr algn="l" rtl="0" eaLnBrk="0">
                <a:lnSpc>
                  <a:spcPct val="146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r" rtl="0" eaLnBrk="0">
                <a:lnSpc>
                  <a:spcPct val="82000"/>
                </a:lnSpc>
                <a:spcBef>
                  <a:spcPts val="515"/>
                </a:spcBef>
              </a:pPr>
              <a:r>
                <a:rPr sz="1700" kern="0" spc="5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r_</a:t>
              </a:r>
              <a:r>
                <a:rPr sz="1700" kern="0" spc="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imu</a:t>
              </a:r>
              <a:endParaRPr sz="17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60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8000"/>
                </a:lnSpc>
              </a:pPr>
              <a:endParaRPr sz="4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2305685" algn="l" rtl="0" eaLnBrk="0">
                <a:lnSpc>
                  <a:spcPct val="82000"/>
                </a:lnSpc>
                <a:spcBef>
                  <a:spcPts val="5"/>
                </a:spcBef>
              </a:pPr>
              <a:r>
                <a:rPr sz="1700" kern="0" spc="110" dirty="0">
                  <a:solidFill>
                    <a:srgbClr val="000000">
                      <a:alpha val="100000"/>
                    </a:srgbClr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v_</a:t>
              </a:r>
              <a:r>
                <a:rPr sz="1700" kern="0" spc="0" dirty="0">
                  <a:solidFill>
                    <a:srgbClr val="000000">
                      <a:alpha val="100000"/>
                    </a:srgbClr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imu</a:t>
              </a:r>
              <a:endParaRPr sz="1700" dirty="0"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</p:txBody>
        </p:sp>
        <p:sp>
          <p:nvSpPr>
            <p:cNvPr id="6" name="textbox 6"/>
            <p:cNvSpPr/>
            <p:nvPr/>
          </p:nvSpPr>
          <p:spPr>
            <a:xfrm>
              <a:off x="1502859" y="2161636"/>
              <a:ext cx="2898139" cy="75945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91000"/>
                </a:lnSpc>
              </a:pPr>
              <a:endParaRPr sz="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2700" algn="l" rtl="0" eaLnBrk="0">
                <a:lnSpc>
                  <a:spcPct val="69000"/>
                </a:lnSpc>
              </a:pPr>
              <a:r>
                <a:rPr sz="2000" b="1" kern="0" spc="-10" dirty="0">
                  <a:solidFill>
                    <a:srgbClr val="000000">
                      <a:alpha val="100000"/>
                    </a:srgbClr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Visual Cortex</a:t>
              </a:r>
              <a:endParaRPr sz="2000" dirty="0"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  <a:p>
              <a:pPr marL="2014220" algn="l" rtl="0" eaLnBrk="0">
                <a:lnSpc>
                  <a:spcPct val="74000"/>
                </a:lnSpc>
                <a:spcBef>
                  <a:spcPts val="60"/>
                </a:spcBef>
              </a:pPr>
              <a:r>
                <a:rPr sz="1700" kern="0" spc="1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HART</a:t>
              </a:r>
              <a:endParaRPr sz="17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r" rtl="0" eaLnBrk="0">
                <a:lnSpc>
                  <a:spcPts val="2455"/>
                </a:lnSpc>
                <a:spcBef>
                  <a:spcPts val="90"/>
                </a:spcBef>
              </a:pPr>
              <a:r>
                <a:rPr sz="1700" kern="0" spc="4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dual-stre</a:t>
              </a:r>
              <a:r>
                <a:rPr sz="1700" kern="0" spc="3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am</a:t>
              </a:r>
              <a:endParaRPr sz="17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8" name="textbox 8"/>
            <p:cNvSpPr/>
            <p:nvPr/>
          </p:nvSpPr>
          <p:spPr>
            <a:xfrm>
              <a:off x="132348" y="3161299"/>
              <a:ext cx="1981835" cy="106489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77000"/>
                </a:lnSpc>
              </a:pPr>
              <a:endParaRPr sz="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2700" algn="l" rtl="0" eaLnBrk="0">
                <a:lnSpc>
                  <a:spcPct val="76000"/>
                </a:lnSpc>
              </a:pPr>
              <a:r>
                <a:rPr sz="1500" kern="0" spc="30" dirty="0">
                  <a:solidFill>
                    <a:srgbClr val="000000">
                      <a:alpha val="100000"/>
                    </a:srgbClr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MonocularTown</a:t>
              </a:r>
              <a:endParaRPr sz="1500" dirty="0"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  <a:p>
              <a:pPr marL="63500" algn="l" rtl="0" eaLnBrk="0">
                <a:lnSpc>
                  <a:spcPct val="94000"/>
                </a:lnSpc>
                <a:spcBef>
                  <a:spcPts val="15"/>
                </a:spcBef>
              </a:pPr>
              <a:r>
                <a:rPr sz="1500" kern="0" spc="50" dirty="0">
                  <a:solidFill>
                    <a:srgbClr val="000000">
                      <a:alpha val="100000"/>
                    </a:srgbClr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RGB</a:t>
              </a:r>
              <a:endParaRPr sz="1500" dirty="0"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  <a:p>
              <a:pPr algn="l" rtl="0" eaLnBrk="0">
                <a:lnSpc>
                  <a:spcPct val="112000"/>
                </a:lnSpc>
              </a:pPr>
              <a:endParaRPr sz="8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820420" indent="-256540" algn="l" rtl="0" eaLnBrk="0">
                <a:lnSpc>
                  <a:spcPct val="99000"/>
                </a:lnSpc>
                <a:spcBef>
                  <a:spcPts val="0"/>
                </a:spcBef>
              </a:pPr>
              <a:r>
                <a:rPr sz="1700" kern="0" spc="3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Dorsal stream</a:t>
              </a:r>
              <a:r>
                <a:rPr sz="1700" kern="0" spc="5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 </a:t>
              </a:r>
              <a:r>
                <a:rPr sz="1700" kern="0" spc="11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(</a:t>
              </a:r>
              <a:r>
                <a:rPr sz="1700" kern="0" spc="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motion</a:t>
              </a:r>
              <a:r>
                <a:rPr sz="1700" kern="0" spc="11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)</a:t>
              </a:r>
              <a:endParaRPr sz="17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10" name="textbox 10"/>
            <p:cNvSpPr/>
            <p:nvPr/>
          </p:nvSpPr>
          <p:spPr>
            <a:xfrm>
              <a:off x="2753639" y="3698417"/>
              <a:ext cx="1497964" cy="54038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94000"/>
                </a:lnSpc>
              </a:pPr>
              <a:endParaRPr sz="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82550" indent="-69850" algn="l" rtl="0" eaLnBrk="0">
                <a:lnSpc>
                  <a:spcPct val="99000"/>
                </a:lnSpc>
              </a:pPr>
              <a:r>
                <a:rPr sz="1700" kern="0" spc="3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Ventral stream</a:t>
              </a:r>
              <a:r>
                <a:rPr sz="1700" kern="0" spc="6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 </a:t>
              </a:r>
              <a:r>
                <a:rPr sz="1700" kern="0" spc="3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(appearance)</a:t>
              </a:r>
              <a:endParaRPr sz="17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5" name="group 4"/>
          <p:cNvGrpSpPr/>
          <p:nvPr/>
        </p:nvGrpSpPr>
        <p:grpSpPr>
          <a:xfrm rot="21600000">
            <a:off x="4718684" y="993647"/>
            <a:ext cx="4264025" cy="4581652"/>
            <a:chOff x="0" y="0"/>
            <a:chExt cx="4264025" cy="4581652"/>
          </a:xfrm>
        </p:grpSpPr>
        <p:sp>
          <p:nvSpPr>
            <p:cNvPr id="12" name="textbox 12"/>
            <p:cNvSpPr/>
            <p:nvPr/>
          </p:nvSpPr>
          <p:spPr>
            <a:xfrm>
              <a:off x="899427" y="2006798"/>
              <a:ext cx="2912110" cy="144716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74000"/>
                </a:lnSpc>
              </a:pPr>
              <a:endParaRPr sz="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9685" algn="l" rtl="0" eaLnBrk="0">
                <a:lnSpc>
                  <a:spcPct val="78000"/>
                </a:lnSpc>
              </a:pPr>
              <a:r>
                <a:rPr sz="2000" b="1" kern="0" spc="0" dirty="0">
                  <a:solidFill>
                    <a:srgbClr val="000000">
                      <a:alpha val="100000"/>
                    </a:srgbClr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Complemen</a:t>
              </a:r>
              <a:r>
                <a:rPr sz="2000" b="1" kern="0" spc="-10" dirty="0">
                  <a:solidFill>
                    <a:srgbClr val="000000">
                      <a:alpha val="100000"/>
                    </a:srgbClr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tary Fusion</a:t>
              </a:r>
              <a:endParaRPr sz="2000" dirty="0"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  <a:p>
              <a:pPr algn="l" rtl="0" eaLnBrk="0">
                <a:lnSpc>
                  <a:spcPct val="114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14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15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15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15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1000"/>
                </a:lnSpc>
              </a:pPr>
              <a:endParaRPr sz="5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2700" algn="l" rtl="0" eaLnBrk="0">
                <a:lnSpc>
                  <a:spcPct val="77000"/>
                </a:lnSpc>
                <a:spcBef>
                  <a:spcPts val="5"/>
                </a:spcBef>
              </a:pPr>
              <a:r>
                <a:rPr sz="2000" b="1" kern="0" spc="0" dirty="0">
                  <a:solidFill>
                    <a:srgbClr val="000000">
                      <a:alpha val="100000"/>
                    </a:srgbClr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Hippocampal Spatia</a:t>
              </a:r>
              <a:r>
                <a:rPr sz="2000" b="1" kern="0" spc="-10" dirty="0">
                  <a:solidFill>
                    <a:srgbClr val="000000">
                      <a:alpha val="100000"/>
                    </a:srgbClr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l Cells</a:t>
              </a:r>
              <a:endParaRPr sz="2000" dirty="0"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</p:txBody>
        </p:sp>
        <p:pic>
          <p:nvPicPr>
            <p:cNvPr id="14" name="picture 1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0" y="0"/>
              <a:ext cx="4264025" cy="4581652"/>
            </a:xfrm>
            <a:prstGeom prst="rect">
              <a:avLst/>
            </a:prstGeom>
          </p:spPr>
        </p:pic>
        <p:sp>
          <p:nvSpPr>
            <p:cNvPr id="16" name="textbox 16"/>
            <p:cNvSpPr/>
            <p:nvPr/>
          </p:nvSpPr>
          <p:spPr>
            <a:xfrm>
              <a:off x="588492" y="28344"/>
              <a:ext cx="3333750" cy="82041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3000"/>
                </a:lnSpc>
              </a:pPr>
              <a:endParaRPr sz="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302260" algn="l" rtl="0" eaLnBrk="0">
                <a:lnSpc>
                  <a:spcPts val="2420"/>
                </a:lnSpc>
              </a:pPr>
              <a:r>
                <a:rPr sz="2000" b="1" kern="0" spc="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囹</a:t>
              </a:r>
              <a:r>
                <a:rPr sz="2000" b="1" kern="0" spc="0" dirty="0">
                  <a:solidFill>
                    <a:srgbClr val="000000">
                      <a:alpha val="100000"/>
                    </a:srgbClr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Temporal Pro</a:t>
              </a:r>
              <a:r>
                <a:rPr sz="2000" b="1" kern="0" spc="-10" dirty="0">
                  <a:solidFill>
                    <a:srgbClr val="000000">
                      <a:alpha val="100000"/>
                    </a:srgbClr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cessing</a:t>
              </a:r>
              <a:endParaRPr sz="2000" dirty="0"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  <a:p>
              <a:pPr marL="184785" algn="l" rtl="0" eaLnBrk="0">
                <a:lnSpc>
                  <a:spcPct val="82000"/>
                </a:lnSpc>
                <a:spcBef>
                  <a:spcPts val="210"/>
                </a:spcBef>
              </a:pPr>
              <a:r>
                <a:rPr sz="1700" kern="0" spc="40" dirty="0">
                  <a:solidFill>
                    <a:srgbClr val="000000">
                      <a:alpha val="100000"/>
                    </a:srgbClr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LSTM</a:t>
              </a:r>
              <a:r>
                <a:rPr sz="1700" kern="0" spc="10" dirty="0">
                  <a:solidFill>
                    <a:srgbClr val="000000">
                      <a:alpha val="100000"/>
                    </a:srgbClr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                     </a:t>
              </a:r>
              <a:r>
                <a:rPr sz="1700" kern="0" spc="40" dirty="0">
                  <a:solidFill>
                    <a:srgbClr val="000000">
                      <a:alpha val="100000"/>
                    </a:srgbClr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Lightweight</a:t>
              </a:r>
              <a:endParaRPr sz="1700" dirty="0"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  <a:p>
              <a:pPr marL="12700" algn="l" rtl="0" eaLnBrk="0">
                <a:lnSpc>
                  <a:spcPct val="72000"/>
                </a:lnSpc>
                <a:spcBef>
                  <a:spcPts val="485"/>
                </a:spcBef>
              </a:pPr>
              <a:r>
                <a:rPr sz="1700" kern="0" spc="40" dirty="0">
                  <a:solidFill>
                    <a:srgbClr val="000000">
                      <a:alpha val="100000"/>
                    </a:srgbClr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Fixed - Gate         Attention Module</a:t>
              </a:r>
              <a:endParaRPr sz="1700" dirty="0"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</p:txBody>
        </p:sp>
      </p:grpSp>
      <p:grpSp>
        <p:nvGrpSpPr>
          <p:cNvPr id="7" name="group 6"/>
          <p:cNvGrpSpPr/>
          <p:nvPr/>
        </p:nvGrpSpPr>
        <p:grpSpPr>
          <a:xfrm rot="21600000">
            <a:off x="9268459" y="1052829"/>
            <a:ext cx="2798444" cy="4521834"/>
            <a:chOff x="0" y="0"/>
            <a:chExt cx="2798444" cy="4521834"/>
          </a:xfrm>
        </p:grpSpPr>
        <p:pic>
          <p:nvPicPr>
            <p:cNvPr id="18" name="picture 1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0" y="0"/>
              <a:ext cx="2798444" cy="4521834"/>
            </a:xfrm>
            <a:prstGeom prst="rect">
              <a:avLst/>
            </a:prstGeom>
          </p:spPr>
        </p:pic>
        <p:sp>
          <p:nvSpPr>
            <p:cNvPr id="20" name="textbox 20"/>
            <p:cNvSpPr/>
            <p:nvPr/>
          </p:nvSpPr>
          <p:spPr>
            <a:xfrm>
              <a:off x="361708" y="131516"/>
              <a:ext cx="2024379" cy="56641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9000"/>
                </a:lnSpc>
              </a:pPr>
              <a:endParaRPr sz="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2700" algn="l" rtl="0" eaLnBrk="0">
                <a:lnSpc>
                  <a:spcPct val="75000"/>
                </a:lnSpc>
              </a:pPr>
              <a:r>
                <a:rPr sz="2000" b="1" kern="0" spc="0" dirty="0">
                  <a:solidFill>
                    <a:srgbClr val="000000">
                      <a:alpha val="100000"/>
                    </a:srgbClr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Location&amp;</a:t>
              </a:r>
              <a:r>
                <a:rPr sz="2000" b="1" kern="0" spc="-10" dirty="0">
                  <a:solidFill>
                    <a:srgbClr val="000000">
                      <a:alpha val="100000"/>
                    </a:srgbClr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mappin</a:t>
              </a:r>
              <a:endParaRPr sz="2000" dirty="0"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  <a:p>
              <a:pPr marL="17145" algn="l" rtl="0" eaLnBrk="0">
                <a:lnSpc>
                  <a:spcPts val="2450"/>
                </a:lnSpc>
              </a:pPr>
              <a:r>
                <a:rPr sz="2000" b="1" kern="0" spc="-10" dirty="0">
                  <a:solidFill>
                    <a:srgbClr val="000000">
                      <a:alpha val="100000"/>
                    </a:srgbClr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g</a:t>
              </a:r>
              <a:endParaRPr sz="2000" dirty="0"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</p:txBody>
        </p:sp>
        <p:sp>
          <p:nvSpPr>
            <p:cNvPr id="22" name="textbox 22"/>
            <p:cNvSpPr/>
            <p:nvPr/>
          </p:nvSpPr>
          <p:spPr>
            <a:xfrm>
              <a:off x="683791" y="4116511"/>
              <a:ext cx="1618614" cy="26415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8000"/>
                </a:lnSpc>
              </a:pPr>
              <a:endParaRPr sz="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2700" algn="l" rtl="0" eaLnBrk="0">
                <a:lnSpc>
                  <a:spcPct val="78000"/>
                </a:lnSpc>
              </a:pPr>
              <a:r>
                <a:rPr sz="2000" kern="0" spc="-10" dirty="0">
                  <a:solidFill>
                    <a:srgbClr val="000000">
                      <a:alpha val="100000"/>
                    </a:srgbClr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experience map</a:t>
              </a:r>
              <a:endParaRPr sz="2000" dirty="0"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</p:txBody>
        </p:sp>
      </p:grpSp>
      <p:pic>
        <p:nvPicPr>
          <p:cNvPr id="24" name="picture 2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101390" y="1251193"/>
            <a:ext cx="3434289" cy="1524317"/>
          </a:xfrm>
          <a:prstGeom prst="rect">
            <a:avLst/>
          </a:prstGeom>
        </p:spPr>
      </p:pic>
      <p:sp>
        <p:nvSpPr>
          <p:cNvPr id="26" name="textbox 26"/>
          <p:cNvSpPr/>
          <p:nvPr/>
        </p:nvSpPr>
        <p:spPr>
          <a:xfrm>
            <a:off x="5095950" y="4603357"/>
            <a:ext cx="3612515" cy="9175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28345" algn="l" rtl="0" eaLnBrk="0">
              <a:lnSpc>
                <a:spcPct val="83000"/>
              </a:lnSpc>
            </a:pPr>
            <a:r>
              <a:rPr sz="3200" b="1" kern="0" spc="76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+</a:t>
            </a:r>
            <a:endParaRPr sz="32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2605"/>
              </a:lnSpc>
              <a:spcBef>
                <a:spcPts val="0"/>
              </a:spcBef>
            </a:pPr>
            <a:r>
              <a:rPr sz="2700" kern="0" spc="0" baseline="3100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Hd</a:t>
            </a:r>
            <a:r>
              <a:rPr sz="1700" kern="0" spc="40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700" kern="0" spc="20" baseline="-300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,</a:t>
            </a:r>
            <a:r>
              <a:rPr sz="1700" kern="0" spc="2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700" kern="0" spc="20" baseline="-300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y,</a:t>
            </a:r>
            <a:r>
              <a:rPr sz="1700" kern="0" spc="2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700" kern="0" spc="20" baseline="-300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z</a:t>
            </a:r>
            <a:r>
              <a:rPr sz="1700" kern="0" spc="2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   </a:t>
            </a:r>
            <a:r>
              <a:rPr sz="2700" kern="0" spc="20" baseline="3100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3</a:t>
            </a:r>
            <a:r>
              <a:rPr sz="2700" kern="0" spc="0" baseline="3100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D</a:t>
            </a:r>
            <a:r>
              <a:rPr sz="1700" kern="0" spc="2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700" kern="0" spc="0" baseline="3100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gr</a:t>
            </a:r>
            <a:r>
              <a:rPr sz="1700" kern="0" spc="5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   </a:t>
            </a:r>
            <a:r>
              <a:rPr sz="2700" kern="0" spc="0" baseline="3100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cell</a:t>
            </a:r>
            <a:r>
              <a:rPr sz="1700" kern="0" spc="2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      </a:t>
            </a:r>
            <a:r>
              <a:rPr sz="1700" kern="0" spc="2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4</a:t>
            </a:r>
            <a:r>
              <a:rPr sz="17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DoF</a:t>
            </a:r>
            <a:r>
              <a:rPr sz="1700" kern="0" spc="2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1700" kern="0" spc="1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 </a:t>
            </a:r>
            <a:r>
              <a:rPr sz="17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pose</a:t>
            </a:r>
            <a:endParaRPr sz="170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8" name="textbox 28"/>
          <p:cNvSpPr/>
          <p:nvPr/>
        </p:nvSpPr>
        <p:spPr>
          <a:xfrm>
            <a:off x="6628155" y="5340375"/>
            <a:ext cx="165100" cy="1917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305"/>
              </a:lnSpc>
            </a:pPr>
            <a:r>
              <a:rPr sz="1700" kern="0" spc="2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ψ</a:t>
            </a:r>
            <a:endParaRPr sz="170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30" name="textbox 30"/>
          <p:cNvSpPr/>
          <p:nvPr/>
        </p:nvSpPr>
        <p:spPr>
          <a:xfrm>
            <a:off x="6666624" y="5164175"/>
            <a:ext cx="197485" cy="18986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63000"/>
              </a:lnSpc>
            </a:pPr>
            <a:r>
              <a:rPr sz="17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id</a:t>
            </a:r>
            <a:endParaRPr sz="170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32" name="textbox 32"/>
          <p:cNvSpPr/>
          <p:nvPr/>
        </p:nvSpPr>
        <p:spPr>
          <a:xfrm>
            <a:off x="5364912" y="5342204"/>
            <a:ext cx="137160" cy="14858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965"/>
              </a:lnSpc>
            </a:pPr>
            <a:r>
              <a:rPr sz="1700" kern="0" spc="1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x</a:t>
            </a:r>
            <a:endParaRPr sz="170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34" name="textbox 34"/>
          <p:cNvSpPr/>
          <p:nvPr/>
        </p:nvSpPr>
        <p:spPr>
          <a:xfrm>
            <a:off x="5374055" y="5218353"/>
            <a:ext cx="119379" cy="15303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005"/>
              </a:lnSpc>
            </a:pPr>
            <a:r>
              <a:rPr sz="1700" kern="0" spc="-2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c</a:t>
            </a:r>
            <a:endParaRPr sz="170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pic>
        <p:nvPicPr>
          <p:cNvPr id="36" name="picture 3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4441190" y="2746679"/>
            <a:ext cx="4844287" cy="464845"/>
          </a:xfrm>
          <a:prstGeom prst="rect">
            <a:avLst/>
          </a:prstGeom>
        </p:spPr>
      </p:pic>
      <p:sp>
        <p:nvSpPr>
          <p:cNvPr id="38" name="textbox 38"/>
          <p:cNvSpPr/>
          <p:nvPr/>
        </p:nvSpPr>
        <p:spPr>
          <a:xfrm>
            <a:off x="6079851" y="2724419"/>
            <a:ext cx="1737360" cy="2133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2000"/>
              </a:lnSpc>
            </a:pPr>
            <a:r>
              <a:rPr sz="1500" kern="0" spc="3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Temporal     Features</a:t>
            </a:r>
            <a:endParaRPr sz="150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satMod val="110000"/>
                <a:lum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satMod val="105000"/>
                <a:lum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shade val="94000"/>
              </a:schemeClr>
            </a:gs>
            <a:gs pos="50000">
              <a:schemeClr val="phClr">
                <a:lumMod val="110000"/>
                <a:satMod val="100000"/>
                <a:tint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936</Words>
  <Application>WPS 演示</Application>
  <PresentationFormat/>
  <Paragraphs>130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3" baseType="lpstr">
      <vt:lpstr>Arial</vt:lpstr>
      <vt:lpstr>宋体</vt:lpstr>
      <vt:lpstr>Wingdings</vt:lpstr>
      <vt:lpstr>Arial</vt:lpstr>
      <vt:lpstr>Times New Roman</vt:lpstr>
      <vt:lpstr>黑体</vt:lpstr>
      <vt:lpstr>MS Gothic</vt:lpstr>
      <vt:lpstr>微软雅黑</vt:lpstr>
      <vt:lpstr>Arial Unicode MS</vt:lpstr>
      <vt:lpstr>Calibri</vt:lpstr>
      <vt:lpstr>Office theme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王海东</cp:lastModifiedBy>
  <cp:revision>5</cp:revision>
  <dcterms:created xsi:type="dcterms:W3CDTF">2026-04-07T05:43:35Z</dcterms:created>
  <dcterms:modified xsi:type="dcterms:W3CDTF">2026-04-07T05:45:39Z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O">
    <vt:lpwstr>wqlLaW5nc29mdCBQREYgdG8gV1BTIDEyMA</vt:lpwstr>
  </property>
  <property fmtid="{D5CDD505-2E9C-101B-9397-08002B2CF9AE}" pid="3" name="Created">
    <vt:filetime>2026-03-17T14:49:10Z</vt:filetime>
  </property>
  <property fmtid="{D5CDD505-2E9C-101B-9397-08002B2CF9AE}" pid="4" name="ICV">
    <vt:lpwstr>74B3B85DCFC84419958661EC944B3B41_12</vt:lpwstr>
  </property>
  <property fmtid="{D5CDD505-2E9C-101B-9397-08002B2CF9AE}" pid="5" name="KSOProductBuildVer">
    <vt:lpwstr>2052-12.1.0.23542</vt:lpwstr>
  </property>
</Properties>
</file>